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Roboto Condensed Bold" charset="1" panose="02000000000000000000"/>
      <p:regular r:id="rId33"/>
    </p:embeddedFont>
    <p:embeddedFont>
      <p:font typeface="Roboto Condensed" charset="1" panose="02000000000000000000"/>
      <p:regular r:id="rId34"/>
    </p:embeddedFont>
    <p:embeddedFont>
      <p:font typeface="Montserrat" charset="1" panose="00000500000000000000"/>
      <p:regular r:id="rId38"/>
    </p:embeddedFont>
    <p:embeddedFont>
      <p:font typeface="Poppins Bold" charset="1" panose="00000800000000000000"/>
      <p:regular r:id="rId39"/>
    </p:embeddedFont>
    <p:embeddedFont>
      <p:font typeface="Montaser Arabic Ultra-Bold" charset="1" panose="00000900000000000000"/>
      <p:regular r:id="rId40"/>
    </p:embeddedFont>
    <p:embeddedFont>
      <p:font typeface="Montserrat Bold" charset="1" panose="00000800000000000000"/>
      <p:regular r:id="rId41"/>
    </p:embeddedFont>
    <p:embeddedFont>
      <p:font typeface="Russo One" charset="1" panose="02000503050000020004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notesMasters/notesMaster1.xml" Type="http://schemas.openxmlformats.org/officeDocument/2006/relationships/notesMaster"/><Relationship Id="rId36" Target="theme/theme2.xml" Type="http://schemas.openxmlformats.org/officeDocument/2006/relationships/theme"/><Relationship Id="rId37" Target="notesSlides/notesSlide1.xml" Type="http://schemas.openxmlformats.org/officeDocument/2006/relationships/notes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el rigor abstracto del matemático y el pragmatismo creativo del ingeniero de software. Y el mundo bancario moderno no se mueve con dinero; se mueve con datos, modelos y algoritmos. Es decir, se mueve con lo que nosotros hacemos.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0.jpeg" Type="http://schemas.openxmlformats.org/officeDocument/2006/relationships/image"/><Relationship Id="rId6" Target="../media/image11.jpeg" Type="http://schemas.openxmlformats.org/officeDocument/2006/relationships/image"/><Relationship Id="rId7" Target="../media/image12.jpe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jpeg" Type="http://schemas.openxmlformats.org/officeDocument/2006/relationships/image"/><Relationship Id="rId5" Target="../media/image11.jpeg" Type="http://schemas.openxmlformats.org/officeDocument/2006/relationships/image"/><Relationship Id="rId6" Target="../media/image12.jpe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15" Target="../media/image24.png" Type="http://schemas.openxmlformats.org/officeDocument/2006/relationships/image"/><Relationship Id="rId16" Target="../media/image2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5.jpe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jpeg" Type="http://schemas.openxmlformats.org/officeDocument/2006/relationships/image"/><Relationship Id="rId5" Target="../media/image2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0.jpeg" Type="http://schemas.openxmlformats.org/officeDocument/2006/relationships/image"/><Relationship Id="rId7" Target="../media/image3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0.jpeg" Type="http://schemas.openxmlformats.org/officeDocument/2006/relationships/image"/><Relationship Id="rId7" Target="../media/image3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3.jpeg" Type="http://schemas.openxmlformats.org/officeDocument/2006/relationships/image"/><Relationship Id="rId5" Target="https://gfmag.com/award/global-finance-names-innovators-2018/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4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5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0.jpeg" Type="http://schemas.openxmlformats.org/officeDocument/2006/relationships/image"/><Relationship Id="rId7" Target="../media/image11.jpeg" Type="http://schemas.openxmlformats.org/officeDocument/2006/relationships/image"/><Relationship Id="rId8" Target="../media/image1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6.png" Type="http://schemas.openxmlformats.org/officeDocument/2006/relationships/image"/><Relationship Id="rId7" Target="https://www.smm.org.mx/57cnsmm/files/Congreso57UJED16.pdf" TargetMode="External" Type="http://schemas.openxmlformats.org/officeDocument/2006/relationships/hyperlink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7.jpeg" Type="http://schemas.openxmlformats.org/officeDocument/2006/relationships/image"/><Relationship Id="rId5" Target="https://gfmag.com/award/award-winners/innovators-2022-category-honorees/" TargetMode="External" Type="http://schemas.openxmlformats.org/officeDocument/2006/relationships/hyperlink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8.png" Type="http://schemas.openxmlformats.org/officeDocument/2006/relationships/image"/><Relationship Id="rId5" Target="https://gfmag.com/award/award-winners/innovators-2022-category-honorees/" TargetMode="External" Type="http://schemas.openxmlformats.org/officeDocument/2006/relationships/hyperlink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39.jpeg" Type="http://schemas.openxmlformats.org/officeDocument/2006/relationships/image"/><Relationship Id="rId5" Target="../media/image40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39.jpeg" Type="http://schemas.openxmlformats.org/officeDocument/2006/relationships/image"/><Relationship Id="rId5" Target="../media/image40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39.jpeg" Type="http://schemas.openxmlformats.org/officeDocument/2006/relationships/image"/><Relationship Id="rId5" Target="../media/image40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39.jpeg" Type="http://schemas.openxmlformats.org/officeDocument/2006/relationships/image"/><Relationship Id="rId5" Target="../media/image40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39.jpeg" Type="http://schemas.openxmlformats.org/officeDocument/2006/relationships/image"/><Relationship Id="rId5" Target="../media/image40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jpeg" Type="http://schemas.openxmlformats.org/officeDocument/2006/relationships/image"/><Relationship Id="rId5" Target="https://app.flowcv.com" TargetMode="External" Type="http://schemas.openxmlformats.org/officeDocument/2006/relationships/hyperlink"/><Relationship Id="rId6" Target="https://resumeworded.com" TargetMode="External" Type="http://schemas.openxmlformats.org/officeDocument/2006/relationships/hyperlink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26113" y="-4777360"/>
            <a:ext cx="10696161" cy="10174724"/>
          </a:xfrm>
          <a:custGeom>
            <a:avLst/>
            <a:gdLst/>
            <a:ahLst/>
            <a:cxnLst/>
            <a:rect r="r" b="b" t="t" l="l"/>
            <a:pathLst>
              <a:path h="10174724" w="10696161">
                <a:moveTo>
                  <a:pt x="0" y="0"/>
                </a:moveTo>
                <a:lnTo>
                  <a:pt x="10696161" y="0"/>
                </a:lnTo>
                <a:lnTo>
                  <a:pt x="10696161" y="10174724"/>
                </a:lnTo>
                <a:lnTo>
                  <a:pt x="0" y="10174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917265" y="-8450056"/>
            <a:ext cx="17520116" cy="1752011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DB3C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9332240" y="0"/>
            <a:ext cx="8955760" cy="8955760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0"/>
                  </a:moveTo>
                  <a:cubicBezTo>
                    <a:pt x="0" y="3506470"/>
                    <a:pt x="2843530" y="6350000"/>
                    <a:pt x="6350000" y="6350000"/>
                  </a:cubicBezTo>
                  <a:lnTo>
                    <a:pt x="635000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046" t="0" r="-25046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8446077" y="2640449"/>
            <a:ext cx="4062386" cy="4062386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8DB3C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08023" y="420342"/>
              <a:ext cx="5533953" cy="5509315"/>
            </a:xfrm>
            <a:custGeom>
              <a:avLst/>
              <a:gdLst/>
              <a:ahLst/>
              <a:cxnLst/>
              <a:rect r="r" b="b" t="t" l="l"/>
              <a:pathLst>
                <a:path h="5509315" w="5533953">
                  <a:moveTo>
                    <a:pt x="2766977" y="28"/>
                  </a:moveTo>
                  <a:cubicBezTo>
                    <a:pt x="1779908" y="-4386"/>
                    <a:pt x="865924" y="519676"/>
                    <a:pt x="371110" y="1373774"/>
                  </a:cubicBezTo>
                  <a:cubicBezTo>
                    <a:pt x="-123703" y="2227873"/>
                    <a:pt x="-123703" y="3281443"/>
                    <a:pt x="371110" y="4135542"/>
                  </a:cubicBezTo>
                  <a:cubicBezTo>
                    <a:pt x="865924" y="4989640"/>
                    <a:pt x="1779908" y="5513702"/>
                    <a:pt x="2766977" y="5509288"/>
                  </a:cubicBezTo>
                  <a:cubicBezTo>
                    <a:pt x="3754046" y="5513702"/>
                    <a:pt x="4668030" y="4989640"/>
                    <a:pt x="5162844" y="4135542"/>
                  </a:cubicBezTo>
                  <a:cubicBezTo>
                    <a:pt x="5657657" y="3281443"/>
                    <a:pt x="5657657" y="2227873"/>
                    <a:pt x="5162844" y="1373775"/>
                  </a:cubicBezTo>
                  <a:cubicBezTo>
                    <a:pt x="4668030" y="519676"/>
                    <a:pt x="3754046" y="-4386"/>
                    <a:pt x="2766977" y="28"/>
                  </a:cubicBezTo>
                  <a:close/>
                </a:path>
              </a:pathLst>
            </a:custGeom>
            <a:blipFill>
              <a:blip r:embed="rId5"/>
              <a:stretch>
                <a:fillRect l="-25806" t="0" r="-44205" b="-13137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9675324">
            <a:off x="-1523214" y="5006317"/>
            <a:ext cx="24228392" cy="8121818"/>
          </a:xfrm>
          <a:custGeom>
            <a:avLst/>
            <a:gdLst/>
            <a:ahLst/>
            <a:cxnLst/>
            <a:rect r="r" b="b" t="t" l="l"/>
            <a:pathLst>
              <a:path h="8121818" w="24228392">
                <a:moveTo>
                  <a:pt x="0" y="0"/>
                </a:moveTo>
                <a:lnTo>
                  <a:pt x="24228392" y="0"/>
                </a:lnTo>
                <a:lnTo>
                  <a:pt x="24228392" y="8121817"/>
                </a:lnTo>
                <a:lnTo>
                  <a:pt x="0" y="81218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6918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7544" y="5029200"/>
            <a:ext cx="8440691" cy="184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0"/>
              </a:lnSpc>
            </a:pPr>
            <a:r>
              <a:rPr lang="en-US" sz="5293" b="true">
                <a:solidFill>
                  <a:srgbClr val="D9EAF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Finanzas: El campo de juego perfecto para un mac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5265" y="8525875"/>
            <a:ext cx="10957549" cy="764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1"/>
              </a:lnSpc>
            </a:pPr>
            <a:r>
              <a:rPr lang="en-US" sz="4400" b="true">
                <a:solidFill>
                  <a:srgbClr val="509FC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Luis Giovanni Guerrero García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4822" y="7160202"/>
            <a:ext cx="10923641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Modelación, Optimización y IA en la Banca de Vanguardia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64722" y="-3091596"/>
            <a:ext cx="5352128" cy="5091211"/>
          </a:xfrm>
          <a:custGeom>
            <a:avLst/>
            <a:gdLst/>
            <a:ahLst/>
            <a:cxnLst/>
            <a:rect r="r" b="b" t="t" l="l"/>
            <a:pathLst>
              <a:path h="5091211" w="5352128">
                <a:moveTo>
                  <a:pt x="0" y="0"/>
                </a:moveTo>
                <a:lnTo>
                  <a:pt x="5352128" y="0"/>
                </a:lnTo>
                <a:lnTo>
                  <a:pt x="5352128" y="5091211"/>
                </a:lnTo>
                <a:lnTo>
                  <a:pt x="0" y="5091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33033" y="-3091596"/>
            <a:ext cx="5352128" cy="5091211"/>
          </a:xfrm>
          <a:custGeom>
            <a:avLst/>
            <a:gdLst/>
            <a:ahLst/>
            <a:cxnLst/>
            <a:rect r="r" b="b" t="t" l="l"/>
            <a:pathLst>
              <a:path h="5091211" w="5352128">
                <a:moveTo>
                  <a:pt x="0" y="0"/>
                </a:moveTo>
                <a:lnTo>
                  <a:pt x="5352128" y="0"/>
                </a:lnTo>
                <a:lnTo>
                  <a:pt x="5352128" y="5091211"/>
                </a:lnTo>
                <a:lnTo>
                  <a:pt x="0" y="5091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14788" y="1307665"/>
            <a:ext cx="16333646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true">
                <a:solidFill>
                  <a:srgbClr val="D9EAF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¿Por Qué un MAC en Finanzas?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41355" y="3229880"/>
            <a:ext cx="5555120" cy="85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Contexto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278970" y="5571253"/>
            <a:ext cx="4062386" cy="4062386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8DB3C8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08023" y="420342"/>
              <a:ext cx="5533953" cy="5509315"/>
            </a:xfrm>
            <a:custGeom>
              <a:avLst/>
              <a:gdLst/>
              <a:ahLst/>
              <a:cxnLst/>
              <a:rect r="r" b="b" t="t" l="l"/>
              <a:pathLst>
                <a:path h="5509315" w="5533953">
                  <a:moveTo>
                    <a:pt x="2766977" y="28"/>
                  </a:moveTo>
                  <a:cubicBezTo>
                    <a:pt x="1779908" y="-4386"/>
                    <a:pt x="865924" y="519676"/>
                    <a:pt x="371110" y="1373774"/>
                  </a:cubicBezTo>
                  <a:cubicBezTo>
                    <a:pt x="-123703" y="2227873"/>
                    <a:pt x="-123703" y="3281443"/>
                    <a:pt x="371110" y="4135542"/>
                  </a:cubicBezTo>
                  <a:cubicBezTo>
                    <a:pt x="865924" y="4989640"/>
                    <a:pt x="1779908" y="5513702"/>
                    <a:pt x="2766977" y="5509288"/>
                  </a:cubicBezTo>
                  <a:cubicBezTo>
                    <a:pt x="3754046" y="5513702"/>
                    <a:pt x="4668030" y="4989640"/>
                    <a:pt x="5162844" y="4135542"/>
                  </a:cubicBezTo>
                  <a:cubicBezTo>
                    <a:pt x="5657657" y="3281443"/>
                    <a:pt x="5657657" y="2227873"/>
                    <a:pt x="5162844" y="1373775"/>
                  </a:cubicBezTo>
                  <a:cubicBezTo>
                    <a:pt x="4668030" y="519676"/>
                    <a:pt x="3754046" y="-4386"/>
                    <a:pt x="2766977" y="28"/>
                  </a:cubicBezTo>
                  <a:close/>
                </a:path>
              </a:pathLst>
            </a:custGeom>
            <a:blipFill>
              <a:blip r:embed="rId4"/>
              <a:stretch>
                <a:fillRect l="-25806" t="0" r="-44205" b="-13137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097030" y="3165867"/>
            <a:ext cx="1244325" cy="921777"/>
            <a:chOff x="0" y="0"/>
            <a:chExt cx="1659100" cy="1229037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215032" y="0"/>
              <a:ext cx="1229037" cy="1229037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6993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136152"/>
              <a:ext cx="1659100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B6E4FD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19193" y="4490138"/>
            <a:ext cx="1244325" cy="921777"/>
            <a:chOff x="0" y="0"/>
            <a:chExt cx="1659100" cy="122903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215032" y="0"/>
              <a:ext cx="1229037" cy="1229037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699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0" y="136152"/>
              <a:ext cx="1659100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B6E4FD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02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839537" y="5907216"/>
            <a:ext cx="1244325" cy="921777"/>
            <a:chOff x="0" y="0"/>
            <a:chExt cx="1659100" cy="1229037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215032" y="0"/>
              <a:ext cx="1229037" cy="1229037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6993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0" y="136152"/>
              <a:ext cx="1659100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B6E4FD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03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874590" y="7352868"/>
            <a:ext cx="1244325" cy="921777"/>
            <a:chOff x="0" y="0"/>
            <a:chExt cx="1659100" cy="1229037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215032" y="0"/>
              <a:ext cx="1229037" cy="1229037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6993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0" y="136152"/>
              <a:ext cx="1659100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B6E4FD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04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5963518" y="4466840"/>
            <a:ext cx="591478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</a:t>
            </a:r>
            <a:r>
              <a:rPr lang="en-US" sz="5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ropuesta de Valor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083862" y="5883917"/>
            <a:ext cx="400258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</a:t>
            </a:r>
            <a:r>
              <a:rPr lang="en-US" sz="5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roceso Central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118915" y="7299967"/>
            <a:ext cx="385554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Cas</a:t>
            </a:r>
            <a:r>
              <a:rPr lang="en-US" sz="5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os de Éxito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028700" y="1660659"/>
            <a:ext cx="6965682" cy="6965682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2B699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08023" y="420342"/>
              <a:ext cx="5533953" cy="5509315"/>
            </a:xfrm>
            <a:custGeom>
              <a:avLst/>
              <a:gdLst/>
              <a:ahLst/>
              <a:cxnLst/>
              <a:rect r="r" b="b" t="t" l="l"/>
              <a:pathLst>
                <a:path h="5509315" w="5533953">
                  <a:moveTo>
                    <a:pt x="2766977" y="28"/>
                  </a:moveTo>
                  <a:cubicBezTo>
                    <a:pt x="1779908" y="-4386"/>
                    <a:pt x="865924" y="519676"/>
                    <a:pt x="371110" y="1373774"/>
                  </a:cubicBezTo>
                  <a:cubicBezTo>
                    <a:pt x="-123703" y="2227873"/>
                    <a:pt x="-123703" y="3281443"/>
                    <a:pt x="371110" y="4135542"/>
                  </a:cubicBezTo>
                  <a:cubicBezTo>
                    <a:pt x="865924" y="4989640"/>
                    <a:pt x="1779908" y="5513702"/>
                    <a:pt x="2766977" y="5509288"/>
                  </a:cubicBezTo>
                  <a:cubicBezTo>
                    <a:pt x="3754046" y="5513702"/>
                    <a:pt x="4668030" y="4989640"/>
                    <a:pt x="5162844" y="4135542"/>
                  </a:cubicBezTo>
                  <a:cubicBezTo>
                    <a:pt x="5657657" y="3281443"/>
                    <a:pt x="5657657" y="2227873"/>
                    <a:pt x="5162844" y="1373775"/>
                  </a:cubicBezTo>
                  <a:cubicBezTo>
                    <a:pt x="4668030" y="519676"/>
                    <a:pt x="3754046" y="-4386"/>
                    <a:pt x="2766977" y="28"/>
                  </a:cubicBezTo>
                  <a:close/>
                </a:path>
              </a:pathLst>
            </a:custGeom>
            <a:blipFill>
              <a:blip r:embed="rId2"/>
              <a:stretch>
                <a:fillRect l="-33765" t="-394" r="-37646" b="-14318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8803574">
            <a:off x="-3229007" y="4942016"/>
            <a:ext cx="8106264" cy="8524787"/>
          </a:xfrm>
          <a:custGeom>
            <a:avLst/>
            <a:gdLst/>
            <a:ahLst/>
            <a:cxnLst/>
            <a:rect r="r" b="b" t="t" l="l"/>
            <a:pathLst>
              <a:path h="8524787" w="8106264">
                <a:moveTo>
                  <a:pt x="0" y="0"/>
                </a:moveTo>
                <a:lnTo>
                  <a:pt x="8106264" y="0"/>
                </a:lnTo>
                <a:lnTo>
                  <a:pt x="8106264" y="8524786"/>
                </a:lnTo>
                <a:lnTo>
                  <a:pt x="0" y="85247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4462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639383">
            <a:off x="-2623104" y="-3403514"/>
            <a:ext cx="8106264" cy="6807027"/>
          </a:xfrm>
          <a:custGeom>
            <a:avLst/>
            <a:gdLst/>
            <a:ahLst/>
            <a:cxnLst/>
            <a:rect r="r" b="b" t="t" l="l"/>
            <a:pathLst>
              <a:path h="6807027" w="8106264">
                <a:moveTo>
                  <a:pt x="0" y="0"/>
                </a:moveTo>
                <a:lnTo>
                  <a:pt x="8106263" y="0"/>
                </a:lnTo>
                <a:lnTo>
                  <a:pt x="8106263" y="6807028"/>
                </a:lnTo>
                <a:lnTo>
                  <a:pt x="0" y="68070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8112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994382" y="1550374"/>
            <a:ext cx="8549719" cy="1678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4800" b="true">
                <a:solidFill>
                  <a:srgbClr val="509FC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El panorama competitivo de la banca moderna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50461" y="3902292"/>
            <a:ext cx="555512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Saturación de productos financieros.</a:t>
            </a:r>
          </a:p>
          <a:p>
            <a:pPr algn="l">
              <a:lnSpc>
                <a:spcPts val="4200"/>
              </a:lnSpc>
            </a:pP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6288075" y="6224614"/>
            <a:ext cx="4062386" cy="4062386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8DB3C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8023" y="420342"/>
              <a:ext cx="5533953" cy="5509315"/>
            </a:xfrm>
            <a:custGeom>
              <a:avLst/>
              <a:gdLst/>
              <a:ahLst/>
              <a:cxnLst/>
              <a:rect r="r" b="b" t="t" l="l"/>
              <a:pathLst>
                <a:path h="5509315" w="5533953">
                  <a:moveTo>
                    <a:pt x="2766977" y="28"/>
                  </a:moveTo>
                  <a:cubicBezTo>
                    <a:pt x="1779908" y="-4386"/>
                    <a:pt x="865924" y="519676"/>
                    <a:pt x="371110" y="1373774"/>
                  </a:cubicBezTo>
                  <a:cubicBezTo>
                    <a:pt x="-123703" y="2227873"/>
                    <a:pt x="-123703" y="3281443"/>
                    <a:pt x="371110" y="4135542"/>
                  </a:cubicBezTo>
                  <a:cubicBezTo>
                    <a:pt x="865924" y="4989640"/>
                    <a:pt x="1779908" y="5513702"/>
                    <a:pt x="2766977" y="5509288"/>
                  </a:cubicBezTo>
                  <a:cubicBezTo>
                    <a:pt x="3754046" y="5513702"/>
                    <a:pt x="4668030" y="4989640"/>
                    <a:pt x="5162844" y="4135542"/>
                  </a:cubicBezTo>
                  <a:cubicBezTo>
                    <a:pt x="5657657" y="3281443"/>
                    <a:pt x="5657657" y="2227873"/>
                    <a:pt x="5162844" y="1373775"/>
                  </a:cubicBezTo>
                  <a:cubicBezTo>
                    <a:pt x="4668030" y="519676"/>
                    <a:pt x="3754046" y="-4386"/>
                    <a:pt x="2766977" y="28"/>
                  </a:cubicBezTo>
                  <a:close/>
                </a:path>
              </a:pathLst>
            </a:custGeom>
            <a:blipFill>
              <a:blip r:embed="rId5"/>
              <a:stretch>
                <a:fillRect l="-25806" t="0" r="-44205" b="-13137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06136" y="3819228"/>
            <a:ext cx="1244325" cy="921777"/>
            <a:chOff x="0" y="0"/>
            <a:chExt cx="1659100" cy="1229037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215032" y="0"/>
              <a:ext cx="1229037" cy="1229037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699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0" y="136152"/>
              <a:ext cx="1659100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B6E4FD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728298" y="5143500"/>
            <a:ext cx="1244325" cy="921777"/>
            <a:chOff x="0" y="0"/>
            <a:chExt cx="1659100" cy="1229037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215032" y="0"/>
              <a:ext cx="1229037" cy="1229037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6993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0" y="136152"/>
              <a:ext cx="1659100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B6E4FD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02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848642" y="6560577"/>
            <a:ext cx="1244325" cy="921777"/>
            <a:chOff x="0" y="0"/>
            <a:chExt cx="1659100" cy="1229037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215032" y="0"/>
              <a:ext cx="1229037" cy="1229037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6993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0" y="136152"/>
              <a:ext cx="1659100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B6E4FD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03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883696" y="8006230"/>
            <a:ext cx="1244325" cy="921777"/>
            <a:chOff x="0" y="0"/>
            <a:chExt cx="1659100" cy="1229037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215032" y="0"/>
              <a:ext cx="1229037" cy="1229037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6993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0" y="136152"/>
              <a:ext cx="1659100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B6E4FD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04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972624" y="5255652"/>
            <a:ext cx="465132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Margen de </a:t>
            </a: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interés decreciente.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183512" y="6716666"/>
            <a:ext cx="553849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Clie</a:t>
            </a: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ntes más informados y exigentes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361412" y="8099939"/>
            <a:ext cx="318268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Hiperpersonalización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994382" y="409892"/>
            <a:ext cx="6711488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D9EAF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Contexto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00696" y="-7507212"/>
            <a:ext cx="10696161" cy="10174724"/>
          </a:xfrm>
          <a:custGeom>
            <a:avLst/>
            <a:gdLst/>
            <a:ahLst/>
            <a:cxnLst/>
            <a:rect r="r" b="b" t="t" l="l"/>
            <a:pathLst>
              <a:path h="10174724" w="10696161">
                <a:moveTo>
                  <a:pt x="0" y="0"/>
                </a:moveTo>
                <a:lnTo>
                  <a:pt x="10696162" y="0"/>
                </a:lnTo>
                <a:lnTo>
                  <a:pt x="10696162" y="10174724"/>
                </a:lnTo>
                <a:lnTo>
                  <a:pt x="0" y="101747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7432480" y="1212925"/>
            <a:ext cx="3218150" cy="8045375"/>
            <a:chOff x="0" y="0"/>
            <a:chExt cx="254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4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2540000">
                  <a:moveTo>
                    <a:pt x="1778000" y="6350000"/>
                  </a:moveTo>
                  <a:lnTo>
                    <a:pt x="762000" y="6350000"/>
                  </a:lnTo>
                  <a:cubicBezTo>
                    <a:pt x="341630" y="6350000"/>
                    <a:pt x="0" y="6008370"/>
                    <a:pt x="0" y="5588000"/>
                  </a:cubicBezTo>
                  <a:lnTo>
                    <a:pt x="0" y="762000"/>
                  </a:lnTo>
                  <a:cubicBezTo>
                    <a:pt x="0" y="341630"/>
                    <a:pt x="341630" y="0"/>
                    <a:pt x="762000" y="0"/>
                  </a:cubicBezTo>
                  <a:lnTo>
                    <a:pt x="1778000" y="0"/>
                  </a:lnTo>
                  <a:cubicBezTo>
                    <a:pt x="2198370" y="0"/>
                    <a:pt x="2540000" y="341630"/>
                    <a:pt x="2540000" y="762000"/>
                  </a:cubicBezTo>
                  <a:lnTo>
                    <a:pt x="2540000" y="5588000"/>
                  </a:lnTo>
                  <a:cubicBezTo>
                    <a:pt x="2540000" y="6008370"/>
                    <a:pt x="2198370" y="6350000"/>
                    <a:pt x="1778000" y="6350000"/>
                  </a:cubicBezTo>
                  <a:close/>
                </a:path>
              </a:pathLst>
            </a:custGeom>
            <a:blipFill>
              <a:blip r:embed="rId5"/>
              <a:stretch>
                <a:fillRect l="-33281" t="0" r="-33281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4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2540000">
                  <a:moveTo>
                    <a:pt x="1778000" y="19050"/>
                  </a:moveTo>
                  <a:cubicBezTo>
                    <a:pt x="2188210" y="19050"/>
                    <a:pt x="2520950" y="351790"/>
                    <a:pt x="2520950" y="762000"/>
                  </a:cubicBezTo>
                  <a:lnTo>
                    <a:pt x="2520950" y="5588000"/>
                  </a:lnTo>
                  <a:cubicBezTo>
                    <a:pt x="2520950" y="5998210"/>
                    <a:pt x="2188210" y="6330950"/>
                    <a:pt x="1778000" y="6330950"/>
                  </a:cubicBezTo>
                  <a:lnTo>
                    <a:pt x="762000" y="6330950"/>
                  </a:lnTo>
                  <a:cubicBezTo>
                    <a:pt x="351790" y="6330950"/>
                    <a:pt x="19050" y="5998210"/>
                    <a:pt x="19050" y="5588000"/>
                  </a:cubicBezTo>
                  <a:lnTo>
                    <a:pt x="19050" y="762000"/>
                  </a:lnTo>
                  <a:cubicBezTo>
                    <a:pt x="19050" y="351790"/>
                    <a:pt x="351790" y="19050"/>
                    <a:pt x="762000" y="19050"/>
                  </a:cubicBezTo>
                  <a:lnTo>
                    <a:pt x="1778000" y="19050"/>
                  </a:lnTo>
                  <a:moveTo>
                    <a:pt x="1778000" y="0"/>
                  </a:moveTo>
                  <a:lnTo>
                    <a:pt x="762000" y="0"/>
                  </a:lnTo>
                  <a:cubicBezTo>
                    <a:pt x="341630" y="0"/>
                    <a:pt x="0" y="341630"/>
                    <a:pt x="0" y="762000"/>
                  </a:cubicBezTo>
                  <a:lnTo>
                    <a:pt x="0" y="5588000"/>
                  </a:lnTo>
                  <a:cubicBezTo>
                    <a:pt x="0" y="6008370"/>
                    <a:pt x="341630" y="6350000"/>
                    <a:pt x="762000" y="6350000"/>
                  </a:cubicBezTo>
                  <a:lnTo>
                    <a:pt x="1778000" y="6350000"/>
                  </a:lnTo>
                  <a:cubicBezTo>
                    <a:pt x="2198370" y="6350000"/>
                    <a:pt x="2540000" y="6008370"/>
                    <a:pt x="2540000" y="5588000"/>
                  </a:cubicBezTo>
                  <a:lnTo>
                    <a:pt x="2540000" y="762000"/>
                  </a:lnTo>
                  <a:cubicBezTo>
                    <a:pt x="2540000" y="341630"/>
                    <a:pt x="2198370" y="0"/>
                    <a:pt x="1778000" y="0"/>
                  </a:cubicBezTo>
                  <a:lnTo>
                    <a:pt x="1778000" y="0"/>
                  </a:lnTo>
                  <a:close/>
                </a:path>
              </a:pathLst>
            </a:custGeom>
            <a:solidFill>
              <a:srgbClr val="2B6993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0881030" y="1212925"/>
            <a:ext cx="3218150" cy="8045375"/>
            <a:chOff x="0" y="0"/>
            <a:chExt cx="254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4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2540000">
                  <a:moveTo>
                    <a:pt x="1778000" y="6350000"/>
                  </a:moveTo>
                  <a:lnTo>
                    <a:pt x="762000" y="6350000"/>
                  </a:lnTo>
                  <a:cubicBezTo>
                    <a:pt x="341630" y="6350000"/>
                    <a:pt x="0" y="6008370"/>
                    <a:pt x="0" y="5588000"/>
                  </a:cubicBezTo>
                  <a:lnTo>
                    <a:pt x="0" y="762000"/>
                  </a:lnTo>
                  <a:cubicBezTo>
                    <a:pt x="0" y="341630"/>
                    <a:pt x="341630" y="0"/>
                    <a:pt x="762000" y="0"/>
                  </a:cubicBezTo>
                  <a:lnTo>
                    <a:pt x="1778000" y="0"/>
                  </a:lnTo>
                  <a:cubicBezTo>
                    <a:pt x="2198370" y="0"/>
                    <a:pt x="2540000" y="341630"/>
                    <a:pt x="2540000" y="762000"/>
                  </a:cubicBezTo>
                  <a:lnTo>
                    <a:pt x="2540000" y="5588000"/>
                  </a:lnTo>
                  <a:cubicBezTo>
                    <a:pt x="2540000" y="6008370"/>
                    <a:pt x="2198370" y="6350000"/>
                    <a:pt x="17780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54977" t="0" r="-220257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2540000">
                  <a:moveTo>
                    <a:pt x="1778000" y="19050"/>
                  </a:moveTo>
                  <a:cubicBezTo>
                    <a:pt x="2188210" y="19050"/>
                    <a:pt x="2520950" y="351790"/>
                    <a:pt x="2520950" y="762000"/>
                  </a:cubicBezTo>
                  <a:lnTo>
                    <a:pt x="2520950" y="5588000"/>
                  </a:lnTo>
                  <a:cubicBezTo>
                    <a:pt x="2520950" y="5998210"/>
                    <a:pt x="2188210" y="6330950"/>
                    <a:pt x="1778000" y="6330950"/>
                  </a:cubicBezTo>
                  <a:lnTo>
                    <a:pt x="762000" y="6330950"/>
                  </a:lnTo>
                  <a:cubicBezTo>
                    <a:pt x="351790" y="6330950"/>
                    <a:pt x="19050" y="5998210"/>
                    <a:pt x="19050" y="5588000"/>
                  </a:cubicBezTo>
                  <a:lnTo>
                    <a:pt x="19050" y="762000"/>
                  </a:lnTo>
                  <a:cubicBezTo>
                    <a:pt x="19050" y="351790"/>
                    <a:pt x="351790" y="19050"/>
                    <a:pt x="762000" y="19050"/>
                  </a:cubicBezTo>
                  <a:lnTo>
                    <a:pt x="1778000" y="19050"/>
                  </a:lnTo>
                  <a:moveTo>
                    <a:pt x="1778000" y="0"/>
                  </a:moveTo>
                  <a:lnTo>
                    <a:pt x="762000" y="0"/>
                  </a:lnTo>
                  <a:cubicBezTo>
                    <a:pt x="341630" y="0"/>
                    <a:pt x="0" y="341630"/>
                    <a:pt x="0" y="762000"/>
                  </a:cubicBezTo>
                  <a:lnTo>
                    <a:pt x="0" y="5588000"/>
                  </a:lnTo>
                  <a:cubicBezTo>
                    <a:pt x="0" y="6008370"/>
                    <a:pt x="341630" y="6350000"/>
                    <a:pt x="762000" y="6350000"/>
                  </a:cubicBezTo>
                  <a:lnTo>
                    <a:pt x="1778000" y="6350000"/>
                  </a:lnTo>
                  <a:cubicBezTo>
                    <a:pt x="2198370" y="6350000"/>
                    <a:pt x="2540000" y="6008370"/>
                    <a:pt x="2540000" y="5588000"/>
                  </a:cubicBezTo>
                  <a:lnTo>
                    <a:pt x="2540000" y="762000"/>
                  </a:lnTo>
                  <a:cubicBezTo>
                    <a:pt x="2540000" y="341630"/>
                    <a:pt x="2198370" y="0"/>
                    <a:pt x="1778000" y="0"/>
                  </a:cubicBezTo>
                  <a:lnTo>
                    <a:pt x="1778000" y="0"/>
                  </a:lnTo>
                  <a:close/>
                </a:path>
              </a:pathLst>
            </a:custGeom>
            <a:solidFill>
              <a:srgbClr val="2B6993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4327780" y="1212925"/>
            <a:ext cx="3218150" cy="8045375"/>
            <a:chOff x="0" y="0"/>
            <a:chExt cx="254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4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2540000">
                  <a:moveTo>
                    <a:pt x="1778000" y="6350000"/>
                  </a:moveTo>
                  <a:lnTo>
                    <a:pt x="762000" y="6350000"/>
                  </a:lnTo>
                  <a:cubicBezTo>
                    <a:pt x="341630" y="6350000"/>
                    <a:pt x="0" y="6008370"/>
                    <a:pt x="0" y="5588000"/>
                  </a:cubicBezTo>
                  <a:lnTo>
                    <a:pt x="0" y="762000"/>
                  </a:lnTo>
                  <a:cubicBezTo>
                    <a:pt x="0" y="341630"/>
                    <a:pt x="341630" y="0"/>
                    <a:pt x="762000" y="0"/>
                  </a:cubicBezTo>
                  <a:lnTo>
                    <a:pt x="1778000" y="0"/>
                  </a:lnTo>
                  <a:cubicBezTo>
                    <a:pt x="2198370" y="0"/>
                    <a:pt x="2540000" y="341630"/>
                    <a:pt x="2540000" y="762000"/>
                  </a:cubicBezTo>
                  <a:lnTo>
                    <a:pt x="2540000" y="5588000"/>
                  </a:lnTo>
                  <a:cubicBezTo>
                    <a:pt x="2540000" y="6008370"/>
                    <a:pt x="2198370" y="6350000"/>
                    <a:pt x="1778000" y="6350000"/>
                  </a:cubicBezTo>
                  <a:close/>
                </a:path>
              </a:pathLst>
            </a:custGeom>
            <a:blipFill>
              <a:blip r:embed="rId7"/>
              <a:stretch>
                <a:fillRect l="-209916" t="0" r="-64615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4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2540000">
                  <a:moveTo>
                    <a:pt x="1778000" y="19050"/>
                  </a:moveTo>
                  <a:cubicBezTo>
                    <a:pt x="2188210" y="19050"/>
                    <a:pt x="2520950" y="351790"/>
                    <a:pt x="2520950" y="762000"/>
                  </a:cubicBezTo>
                  <a:lnTo>
                    <a:pt x="2520950" y="5588000"/>
                  </a:lnTo>
                  <a:cubicBezTo>
                    <a:pt x="2520950" y="5998210"/>
                    <a:pt x="2188210" y="6330950"/>
                    <a:pt x="1778000" y="6330950"/>
                  </a:cubicBezTo>
                  <a:lnTo>
                    <a:pt x="762000" y="6330950"/>
                  </a:lnTo>
                  <a:cubicBezTo>
                    <a:pt x="351790" y="6330950"/>
                    <a:pt x="19050" y="5998210"/>
                    <a:pt x="19050" y="5588000"/>
                  </a:cubicBezTo>
                  <a:lnTo>
                    <a:pt x="19050" y="762000"/>
                  </a:lnTo>
                  <a:cubicBezTo>
                    <a:pt x="19050" y="351790"/>
                    <a:pt x="351790" y="19050"/>
                    <a:pt x="762000" y="19050"/>
                  </a:cubicBezTo>
                  <a:lnTo>
                    <a:pt x="1778000" y="19050"/>
                  </a:lnTo>
                  <a:moveTo>
                    <a:pt x="1778000" y="0"/>
                  </a:moveTo>
                  <a:lnTo>
                    <a:pt x="762000" y="0"/>
                  </a:lnTo>
                  <a:cubicBezTo>
                    <a:pt x="341630" y="0"/>
                    <a:pt x="0" y="341630"/>
                    <a:pt x="0" y="762000"/>
                  </a:cubicBezTo>
                  <a:lnTo>
                    <a:pt x="0" y="5588000"/>
                  </a:lnTo>
                  <a:cubicBezTo>
                    <a:pt x="0" y="6008370"/>
                    <a:pt x="341630" y="6350000"/>
                    <a:pt x="762000" y="6350000"/>
                  </a:cubicBezTo>
                  <a:lnTo>
                    <a:pt x="1778000" y="6350000"/>
                  </a:lnTo>
                  <a:cubicBezTo>
                    <a:pt x="2198370" y="6350000"/>
                    <a:pt x="2540000" y="6008370"/>
                    <a:pt x="2540000" y="5588000"/>
                  </a:cubicBezTo>
                  <a:lnTo>
                    <a:pt x="2540000" y="762000"/>
                  </a:lnTo>
                  <a:cubicBezTo>
                    <a:pt x="2540000" y="341630"/>
                    <a:pt x="2198370" y="0"/>
                    <a:pt x="1778000" y="0"/>
                  </a:cubicBezTo>
                  <a:lnTo>
                    <a:pt x="1778000" y="0"/>
                  </a:lnTo>
                  <a:close/>
                </a:path>
              </a:pathLst>
            </a:custGeom>
            <a:solidFill>
              <a:srgbClr val="2B6993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723303" y="4893771"/>
            <a:ext cx="314587" cy="314587"/>
          </a:xfrm>
          <a:custGeom>
            <a:avLst/>
            <a:gdLst/>
            <a:ahLst/>
            <a:cxnLst/>
            <a:rect r="r" b="b" t="t" l="l"/>
            <a:pathLst>
              <a:path h="314587" w="314587">
                <a:moveTo>
                  <a:pt x="0" y="0"/>
                </a:moveTo>
                <a:lnTo>
                  <a:pt x="314587" y="0"/>
                </a:lnTo>
                <a:lnTo>
                  <a:pt x="314587" y="314587"/>
                </a:lnTo>
                <a:lnTo>
                  <a:pt x="0" y="3145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23303" y="5628837"/>
            <a:ext cx="314587" cy="314587"/>
          </a:xfrm>
          <a:custGeom>
            <a:avLst/>
            <a:gdLst/>
            <a:ahLst/>
            <a:cxnLst/>
            <a:rect r="r" b="b" t="t" l="l"/>
            <a:pathLst>
              <a:path h="314587" w="314587">
                <a:moveTo>
                  <a:pt x="0" y="0"/>
                </a:moveTo>
                <a:lnTo>
                  <a:pt x="314587" y="0"/>
                </a:lnTo>
                <a:lnTo>
                  <a:pt x="314587" y="314587"/>
                </a:lnTo>
                <a:lnTo>
                  <a:pt x="0" y="3145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54939" y="6520679"/>
            <a:ext cx="314587" cy="314587"/>
          </a:xfrm>
          <a:custGeom>
            <a:avLst/>
            <a:gdLst/>
            <a:ahLst/>
            <a:cxnLst/>
            <a:rect r="r" b="b" t="t" l="l"/>
            <a:pathLst>
              <a:path h="314587" w="314587">
                <a:moveTo>
                  <a:pt x="0" y="0"/>
                </a:moveTo>
                <a:lnTo>
                  <a:pt x="314587" y="0"/>
                </a:lnTo>
                <a:lnTo>
                  <a:pt x="314587" y="314587"/>
                </a:lnTo>
                <a:lnTo>
                  <a:pt x="0" y="3145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04875" y="3339191"/>
            <a:ext cx="7987078" cy="76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 b="true">
                <a:solidFill>
                  <a:srgbClr val="509FC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El Perfil MAC como Solución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2392" y="2330176"/>
            <a:ext cx="6711488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D9EAF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Propuesta de Valor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3837" y="4846679"/>
            <a:ext cx="679738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Pensamiento Abstracto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3837" y="5581746"/>
            <a:ext cx="679738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Conocimiento en Cómputo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5473" y="6473588"/>
            <a:ext cx="679738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Modelación Matemática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00696" y="-7507212"/>
            <a:ext cx="10696161" cy="10174724"/>
          </a:xfrm>
          <a:custGeom>
            <a:avLst/>
            <a:gdLst/>
            <a:ahLst/>
            <a:cxnLst/>
            <a:rect r="r" b="b" t="t" l="l"/>
            <a:pathLst>
              <a:path h="10174724" w="10696161">
                <a:moveTo>
                  <a:pt x="0" y="0"/>
                </a:moveTo>
                <a:lnTo>
                  <a:pt x="10696162" y="0"/>
                </a:lnTo>
                <a:lnTo>
                  <a:pt x="10696162" y="10174724"/>
                </a:lnTo>
                <a:lnTo>
                  <a:pt x="0" y="10174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7432480" y="1212925"/>
            <a:ext cx="3218150" cy="8045375"/>
            <a:chOff x="0" y="0"/>
            <a:chExt cx="254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4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2540000">
                  <a:moveTo>
                    <a:pt x="1778000" y="6350000"/>
                  </a:moveTo>
                  <a:lnTo>
                    <a:pt x="762000" y="6350000"/>
                  </a:lnTo>
                  <a:cubicBezTo>
                    <a:pt x="341630" y="6350000"/>
                    <a:pt x="0" y="6008370"/>
                    <a:pt x="0" y="5588000"/>
                  </a:cubicBezTo>
                  <a:lnTo>
                    <a:pt x="0" y="762000"/>
                  </a:lnTo>
                  <a:cubicBezTo>
                    <a:pt x="0" y="341630"/>
                    <a:pt x="341630" y="0"/>
                    <a:pt x="762000" y="0"/>
                  </a:cubicBezTo>
                  <a:lnTo>
                    <a:pt x="1778000" y="0"/>
                  </a:lnTo>
                  <a:cubicBezTo>
                    <a:pt x="2198370" y="0"/>
                    <a:pt x="2540000" y="341630"/>
                    <a:pt x="2540000" y="762000"/>
                  </a:cubicBezTo>
                  <a:lnTo>
                    <a:pt x="2540000" y="5588000"/>
                  </a:lnTo>
                  <a:cubicBezTo>
                    <a:pt x="2540000" y="6008370"/>
                    <a:pt x="2198370" y="6350000"/>
                    <a:pt x="17780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33281" t="0" r="-33281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4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2540000">
                  <a:moveTo>
                    <a:pt x="1778000" y="19050"/>
                  </a:moveTo>
                  <a:cubicBezTo>
                    <a:pt x="2188210" y="19050"/>
                    <a:pt x="2520950" y="351790"/>
                    <a:pt x="2520950" y="762000"/>
                  </a:cubicBezTo>
                  <a:lnTo>
                    <a:pt x="2520950" y="5588000"/>
                  </a:lnTo>
                  <a:cubicBezTo>
                    <a:pt x="2520950" y="5998210"/>
                    <a:pt x="2188210" y="6330950"/>
                    <a:pt x="1778000" y="6330950"/>
                  </a:cubicBezTo>
                  <a:lnTo>
                    <a:pt x="762000" y="6330950"/>
                  </a:lnTo>
                  <a:cubicBezTo>
                    <a:pt x="351790" y="6330950"/>
                    <a:pt x="19050" y="5998210"/>
                    <a:pt x="19050" y="5588000"/>
                  </a:cubicBezTo>
                  <a:lnTo>
                    <a:pt x="19050" y="762000"/>
                  </a:lnTo>
                  <a:cubicBezTo>
                    <a:pt x="19050" y="351790"/>
                    <a:pt x="351790" y="19050"/>
                    <a:pt x="762000" y="19050"/>
                  </a:cubicBezTo>
                  <a:lnTo>
                    <a:pt x="1778000" y="19050"/>
                  </a:lnTo>
                  <a:moveTo>
                    <a:pt x="1778000" y="0"/>
                  </a:moveTo>
                  <a:lnTo>
                    <a:pt x="762000" y="0"/>
                  </a:lnTo>
                  <a:cubicBezTo>
                    <a:pt x="341630" y="0"/>
                    <a:pt x="0" y="341630"/>
                    <a:pt x="0" y="762000"/>
                  </a:cubicBezTo>
                  <a:lnTo>
                    <a:pt x="0" y="5588000"/>
                  </a:lnTo>
                  <a:cubicBezTo>
                    <a:pt x="0" y="6008370"/>
                    <a:pt x="341630" y="6350000"/>
                    <a:pt x="762000" y="6350000"/>
                  </a:cubicBezTo>
                  <a:lnTo>
                    <a:pt x="1778000" y="6350000"/>
                  </a:lnTo>
                  <a:cubicBezTo>
                    <a:pt x="2198370" y="6350000"/>
                    <a:pt x="2540000" y="6008370"/>
                    <a:pt x="2540000" y="5588000"/>
                  </a:cubicBezTo>
                  <a:lnTo>
                    <a:pt x="2540000" y="762000"/>
                  </a:lnTo>
                  <a:cubicBezTo>
                    <a:pt x="2540000" y="341630"/>
                    <a:pt x="2198370" y="0"/>
                    <a:pt x="1778000" y="0"/>
                  </a:cubicBezTo>
                  <a:lnTo>
                    <a:pt x="1778000" y="0"/>
                  </a:lnTo>
                  <a:close/>
                </a:path>
              </a:pathLst>
            </a:custGeom>
            <a:solidFill>
              <a:srgbClr val="2B6993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0881030" y="1212925"/>
            <a:ext cx="3218150" cy="8045375"/>
            <a:chOff x="0" y="0"/>
            <a:chExt cx="254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4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2540000">
                  <a:moveTo>
                    <a:pt x="1778000" y="6350000"/>
                  </a:moveTo>
                  <a:lnTo>
                    <a:pt x="762000" y="6350000"/>
                  </a:lnTo>
                  <a:cubicBezTo>
                    <a:pt x="341630" y="6350000"/>
                    <a:pt x="0" y="6008370"/>
                    <a:pt x="0" y="5588000"/>
                  </a:cubicBezTo>
                  <a:lnTo>
                    <a:pt x="0" y="762000"/>
                  </a:lnTo>
                  <a:cubicBezTo>
                    <a:pt x="0" y="341630"/>
                    <a:pt x="341630" y="0"/>
                    <a:pt x="762000" y="0"/>
                  </a:cubicBezTo>
                  <a:lnTo>
                    <a:pt x="1778000" y="0"/>
                  </a:lnTo>
                  <a:cubicBezTo>
                    <a:pt x="2198370" y="0"/>
                    <a:pt x="2540000" y="341630"/>
                    <a:pt x="2540000" y="762000"/>
                  </a:cubicBezTo>
                  <a:lnTo>
                    <a:pt x="2540000" y="5588000"/>
                  </a:lnTo>
                  <a:cubicBezTo>
                    <a:pt x="2540000" y="6008370"/>
                    <a:pt x="2198370" y="6350000"/>
                    <a:pt x="1778000" y="6350000"/>
                  </a:cubicBezTo>
                  <a:close/>
                </a:path>
              </a:pathLst>
            </a:custGeom>
            <a:blipFill>
              <a:blip r:embed="rId5"/>
              <a:stretch>
                <a:fillRect l="-54977" t="0" r="-220257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2540000">
                  <a:moveTo>
                    <a:pt x="1778000" y="19050"/>
                  </a:moveTo>
                  <a:cubicBezTo>
                    <a:pt x="2188210" y="19050"/>
                    <a:pt x="2520950" y="351790"/>
                    <a:pt x="2520950" y="762000"/>
                  </a:cubicBezTo>
                  <a:lnTo>
                    <a:pt x="2520950" y="5588000"/>
                  </a:lnTo>
                  <a:cubicBezTo>
                    <a:pt x="2520950" y="5998210"/>
                    <a:pt x="2188210" y="6330950"/>
                    <a:pt x="1778000" y="6330950"/>
                  </a:cubicBezTo>
                  <a:lnTo>
                    <a:pt x="762000" y="6330950"/>
                  </a:lnTo>
                  <a:cubicBezTo>
                    <a:pt x="351790" y="6330950"/>
                    <a:pt x="19050" y="5998210"/>
                    <a:pt x="19050" y="5588000"/>
                  </a:cubicBezTo>
                  <a:lnTo>
                    <a:pt x="19050" y="762000"/>
                  </a:lnTo>
                  <a:cubicBezTo>
                    <a:pt x="19050" y="351790"/>
                    <a:pt x="351790" y="19050"/>
                    <a:pt x="762000" y="19050"/>
                  </a:cubicBezTo>
                  <a:lnTo>
                    <a:pt x="1778000" y="19050"/>
                  </a:lnTo>
                  <a:moveTo>
                    <a:pt x="1778000" y="0"/>
                  </a:moveTo>
                  <a:lnTo>
                    <a:pt x="762000" y="0"/>
                  </a:lnTo>
                  <a:cubicBezTo>
                    <a:pt x="341630" y="0"/>
                    <a:pt x="0" y="341630"/>
                    <a:pt x="0" y="762000"/>
                  </a:cubicBezTo>
                  <a:lnTo>
                    <a:pt x="0" y="5588000"/>
                  </a:lnTo>
                  <a:cubicBezTo>
                    <a:pt x="0" y="6008370"/>
                    <a:pt x="341630" y="6350000"/>
                    <a:pt x="762000" y="6350000"/>
                  </a:cubicBezTo>
                  <a:lnTo>
                    <a:pt x="1778000" y="6350000"/>
                  </a:lnTo>
                  <a:cubicBezTo>
                    <a:pt x="2198370" y="6350000"/>
                    <a:pt x="2540000" y="6008370"/>
                    <a:pt x="2540000" y="5588000"/>
                  </a:cubicBezTo>
                  <a:lnTo>
                    <a:pt x="2540000" y="762000"/>
                  </a:lnTo>
                  <a:cubicBezTo>
                    <a:pt x="2540000" y="341630"/>
                    <a:pt x="2198370" y="0"/>
                    <a:pt x="1778000" y="0"/>
                  </a:cubicBezTo>
                  <a:lnTo>
                    <a:pt x="1778000" y="0"/>
                  </a:lnTo>
                  <a:close/>
                </a:path>
              </a:pathLst>
            </a:custGeom>
            <a:solidFill>
              <a:srgbClr val="2B6993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4327780" y="1212925"/>
            <a:ext cx="3218150" cy="8045375"/>
            <a:chOff x="0" y="0"/>
            <a:chExt cx="254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4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2540000">
                  <a:moveTo>
                    <a:pt x="1778000" y="6350000"/>
                  </a:moveTo>
                  <a:lnTo>
                    <a:pt x="762000" y="6350000"/>
                  </a:lnTo>
                  <a:cubicBezTo>
                    <a:pt x="341630" y="6350000"/>
                    <a:pt x="0" y="6008370"/>
                    <a:pt x="0" y="5588000"/>
                  </a:cubicBezTo>
                  <a:lnTo>
                    <a:pt x="0" y="762000"/>
                  </a:lnTo>
                  <a:cubicBezTo>
                    <a:pt x="0" y="341630"/>
                    <a:pt x="341630" y="0"/>
                    <a:pt x="762000" y="0"/>
                  </a:cubicBezTo>
                  <a:lnTo>
                    <a:pt x="1778000" y="0"/>
                  </a:lnTo>
                  <a:cubicBezTo>
                    <a:pt x="2198370" y="0"/>
                    <a:pt x="2540000" y="341630"/>
                    <a:pt x="2540000" y="762000"/>
                  </a:cubicBezTo>
                  <a:lnTo>
                    <a:pt x="2540000" y="5588000"/>
                  </a:lnTo>
                  <a:cubicBezTo>
                    <a:pt x="2540000" y="6008370"/>
                    <a:pt x="2198370" y="6350000"/>
                    <a:pt x="17780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9916" t="0" r="-64615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4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2540000">
                  <a:moveTo>
                    <a:pt x="1778000" y="19050"/>
                  </a:moveTo>
                  <a:cubicBezTo>
                    <a:pt x="2188210" y="19050"/>
                    <a:pt x="2520950" y="351790"/>
                    <a:pt x="2520950" y="762000"/>
                  </a:cubicBezTo>
                  <a:lnTo>
                    <a:pt x="2520950" y="5588000"/>
                  </a:lnTo>
                  <a:cubicBezTo>
                    <a:pt x="2520950" y="5998210"/>
                    <a:pt x="2188210" y="6330950"/>
                    <a:pt x="1778000" y="6330950"/>
                  </a:cubicBezTo>
                  <a:lnTo>
                    <a:pt x="762000" y="6330950"/>
                  </a:lnTo>
                  <a:cubicBezTo>
                    <a:pt x="351790" y="6330950"/>
                    <a:pt x="19050" y="5998210"/>
                    <a:pt x="19050" y="5588000"/>
                  </a:cubicBezTo>
                  <a:lnTo>
                    <a:pt x="19050" y="762000"/>
                  </a:lnTo>
                  <a:cubicBezTo>
                    <a:pt x="19050" y="351790"/>
                    <a:pt x="351790" y="19050"/>
                    <a:pt x="762000" y="19050"/>
                  </a:cubicBezTo>
                  <a:lnTo>
                    <a:pt x="1778000" y="19050"/>
                  </a:lnTo>
                  <a:moveTo>
                    <a:pt x="1778000" y="0"/>
                  </a:moveTo>
                  <a:lnTo>
                    <a:pt x="762000" y="0"/>
                  </a:lnTo>
                  <a:cubicBezTo>
                    <a:pt x="341630" y="0"/>
                    <a:pt x="0" y="341630"/>
                    <a:pt x="0" y="762000"/>
                  </a:cubicBezTo>
                  <a:lnTo>
                    <a:pt x="0" y="5588000"/>
                  </a:lnTo>
                  <a:cubicBezTo>
                    <a:pt x="0" y="6008370"/>
                    <a:pt x="341630" y="6350000"/>
                    <a:pt x="762000" y="6350000"/>
                  </a:cubicBezTo>
                  <a:lnTo>
                    <a:pt x="1778000" y="6350000"/>
                  </a:lnTo>
                  <a:cubicBezTo>
                    <a:pt x="2198370" y="6350000"/>
                    <a:pt x="2540000" y="6008370"/>
                    <a:pt x="2540000" y="5588000"/>
                  </a:cubicBezTo>
                  <a:lnTo>
                    <a:pt x="2540000" y="762000"/>
                  </a:lnTo>
                  <a:cubicBezTo>
                    <a:pt x="2540000" y="341630"/>
                    <a:pt x="2198370" y="0"/>
                    <a:pt x="1778000" y="0"/>
                  </a:cubicBezTo>
                  <a:lnTo>
                    <a:pt x="1778000" y="0"/>
                  </a:lnTo>
                  <a:close/>
                </a:path>
              </a:pathLst>
            </a:custGeom>
            <a:solidFill>
              <a:srgbClr val="2B6993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04875" y="3339191"/>
            <a:ext cx="7987078" cy="76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 b="true">
                <a:solidFill>
                  <a:srgbClr val="509FC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El Perfil MAC como Solución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2392" y="2330176"/>
            <a:ext cx="6711488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D9EAF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Propuesta de Valor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23303" y="4893771"/>
            <a:ext cx="314587" cy="314587"/>
          </a:xfrm>
          <a:custGeom>
            <a:avLst/>
            <a:gdLst/>
            <a:ahLst/>
            <a:cxnLst/>
            <a:rect r="r" b="b" t="t" l="l"/>
            <a:pathLst>
              <a:path h="314587" w="314587">
                <a:moveTo>
                  <a:pt x="0" y="0"/>
                </a:moveTo>
                <a:lnTo>
                  <a:pt x="314587" y="0"/>
                </a:lnTo>
                <a:lnTo>
                  <a:pt x="314587" y="314587"/>
                </a:lnTo>
                <a:lnTo>
                  <a:pt x="0" y="31458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23303" y="5628837"/>
            <a:ext cx="314587" cy="314587"/>
          </a:xfrm>
          <a:custGeom>
            <a:avLst/>
            <a:gdLst/>
            <a:ahLst/>
            <a:cxnLst/>
            <a:rect r="r" b="b" t="t" l="l"/>
            <a:pathLst>
              <a:path h="314587" w="314587">
                <a:moveTo>
                  <a:pt x="0" y="0"/>
                </a:moveTo>
                <a:lnTo>
                  <a:pt x="314587" y="0"/>
                </a:lnTo>
                <a:lnTo>
                  <a:pt x="314587" y="314587"/>
                </a:lnTo>
                <a:lnTo>
                  <a:pt x="0" y="31458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54939" y="6520679"/>
            <a:ext cx="314587" cy="314587"/>
          </a:xfrm>
          <a:custGeom>
            <a:avLst/>
            <a:gdLst/>
            <a:ahLst/>
            <a:cxnLst/>
            <a:rect r="r" b="b" t="t" l="l"/>
            <a:pathLst>
              <a:path h="314587" w="314587">
                <a:moveTo>
                  <a:pt x="0" y="0"/>
                </a:moveTo>
                <a:lnTo>
                  <a:pt x="314587" y="0"/>
                </a:lnTo>
                <a:lnTo>
                  <a:pt x="314587" y="314587"/>
                </a:lnTo>
                <a:lnTo>
                  <a:pt x="0" y="31458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13837" y="4846679"/>
            <a:ext cx="679738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Pensamiento Abstracto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3837" y="5581746"/>
            <a:ext cx="679738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Conocimiento en Cómputo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5473" y="6473588"/>
            <a:ext cx="679738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Modelación Matemática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5473" y="7702313"/>
            <a:ext cx="5577776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MAC cierra la brecha entre la Teoría y la Ejecución, entre IT y Negocios.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57162" y="-4058662"/>
            <a:ext cx="10696161" cy="10174724"/>
          </a:xfrm>
          <a:custGeom>
            <a:avLst/>
            <a:gdLst/>
            <a:ahLst/>
            <a:cxnLst/>
            <a:rect r="r" b="b" t="t" l="l"/>
            <a:pathLst>
              <a:path h="10174724" w="10696161">
                <a:moveTo>
                  <a:pt x="0" y="0"/>
                </a:moveTo>
                <a:lnTo>
                  <a:pt x="10696161" y="0"/>
                </a:lnTo>
                <a:lnTo>
                  <a:pt x="10696161" y="10174724"/>
                </a:lnTo>
                <a:lnTo>
                  <a:pt x="0" y="10174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803574">
            <a:off x="-4277740" y="5154694"/>
            <a:ext cx="8106264" cy="8524787"/>
          </a:xfrm>
          <a:custGeom>
            <a:avLst/>
            <a:gdLst/>
            <a:ahLst/>
            <a:cxnLst/>
            <a:rect r="r" b="b" t="t" l="l"/>
            <a:pathLst>
              <a:path h="8524787" w="8106264">
                <a:moveTo>
                  <a:pt x="0" y="0"/>
                </a:moveTo>
                <a:lnTo>
                  <a:pt x="8106263" y="0"/>
                </a:lnTo>
                <a:lnTo>
                  <a:pt x="8106263" y="8524787"/>
                </a:lnTo>
                <a:lnTo>
                  <a:pt x="0" y="85247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446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506033">
            <a:off x="14234868" y="4995907"/>
            <a:ext cx="8106264" cy="8524787"/>
          </a:xfrm>
          <a:custGeom>
            <a:avLst/>
            <a:gdLst/>
            <a:ahLst/>
            <a:cxnLst/>
            <a:rect r="r" b="b" t="t" l="l"/>
            <a:pathLst>
              <a:path h="8524787" w="8106264">
                <a:moveTo>
                  <a:pt x="0" y="0"/>
                </a:moveTo>
                <a:lnTo>
                  <a:pt x="8106264" y="0"/>
                </a:lnTo>
                <a:lnTo>
                  <a:pt x="8106264" y="8524786"/>
                </a:lnTo>
                <a:lnTo>
                  <a:pt x="0" y="8524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4462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03956" y="379457"/>
            <a:ext cx="1609132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D9EA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Proceso Central: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3956" y="1147807"/>
            <a:ext cx="13910890" cy="76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 b="true">
                <a:solidFill>
                  <a:srgbClr val="509FC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 los datos a la decisión – Nuestro framework de operación.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632133" y="7078087"/>
            <a:ext cx="8280275" cy="3794859"/>
            <a:chOff x="0" y="0"/>
            <a:chExt cx="11040367" cy="505981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658200" y="591840"/>
              <a:ext cx="9973640" cy="3927005"/>
              <a:chOff x="0" y="0"/>
              <a:chExt cx="9973640" cy="3927005"/>
            </a:xfrm>
          </p:grpSpPr>
          <p:pic>
            <p:nvPicPr>
              <p:cNvPr name="Picture 9" id="9"/>
              <p:cNvPicPr>
                <a:picLocks noChangeAspect="true"/>
              </p:cNvPicPr>
              <p:nvPr/>
            </p:nvPicPr>
            <p:blipFill>
              <a:blip r:embed="rId6"/>
              <a:srcRect l="0" t="5759" r="0" b="5759"/>
              <a:stretch>
                <a:fillRect/>
              </a:stretch>
            </p:blipFill>
            <p:spPr>
              <a:xfrm flipH="true" flipV="false">
                <a:off x="0" y="0"/>
                <a:ext cx="9973640" cy="3927005"/>
              </a:xfrm>
              <a:prstGeom prst="rect">
                <a:avLst/>
              </a:prstGeom>
            </p:spPr>
          </p:pic>
        </p:grpSp>
        <p:grpSp>
          <p:nvGrpSpPr>
            <p:cNvPr name="Group 10" id="10"/>
            <p:cNvGrpSpPr/>
            <p:nvPr/>
          </p:nvGrpSpPr>
          <p:grpSpPr>
            <a:xfrm rot="0">
              <a:off x="658200" y="591840"/>
              <a:ext cx="9973640" cy="3927005"/>
              <a:chOff x="0" y="0"/>
              <a:chExt cx="1970102" cy="77570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970102" cy="775705"/>
              </a:xfrm>
              <a:custGeom>
                <a:avLst/>
                <a:gdLst/>
                <a:ahLst/>
                <a:cxnLst/>
                <a:rect r="r" b="b" t="t" l="l"/>
                <a:pathLst>
                  <a:path h="775705" w="1970102">
                    <a:moveTo>
                      <a:pt x="42434" y="0"/>
                    </a:moveTo>
                    <a:lnTo>
                      <a:pt x="1927667" y="0"/>
                    </a:lnTo>
                    <a:cubicBezTo>
                      <a:pt x="1938922" y="0"/>
                      <a:pt x="1949715" y="4471"/>
                      <a:pt x="1957673" y="12429"/>
                    </a:cubicBezTo>
                    <a:cubicBezTo>
                      <a:pt x="1965631" y="20387"/>
                      <a:pt x="1970102" y="31180"/>
                      <a:pt x="1970102" y="42434"/>
                    </a:cubicBezTo>
                    <a:lnTo>
                      <a:pt x="1970102" y="733270"/>
                    </a:lnTo>
                    <a:cubicBezTo>
                      <a:pt x="1970102" y="744525"/>
                      <a:pt x="1965631" y="755318"/>
                      <a:pt x="1957673" y="763276"/>
                    </a:cubicBezTo>
                    <a:cubicBezTo>
                      <a:pt x="1949715" y="771234"/>
                      <a:pt x="1938922" y="775705"/>
                      <a:pt x="1927667" y="775705"/>
                    </a:cubicBezTo>
                    <a:lnTo>
                      <a:pt x="42434" y="775705"/>
                    </a:lnTo>
                    <a:cubicBezTo>
                      <a:pt x="31180" y="775705"/>
                      <a:pt x="20387" y="771234"/>
                      <a:pt x="12429" y="763276"/>
                    </a:cubicBezTo>
                    <a:cubicBezTo>
                      <a:pt x="4471" y="755318"/>
                      <a:pt x="0" y="744525"/>
                      <a:pt x="0" y="733270"/>
                    </a:cubicBezTo>
                    <a:lnTo>
                      <a:pt x="0" y="42434"/>
                    </a:lnTo>
                    <a:cubicBezTo>
                      <a:pt x="0" y="31180"/>
                      <a:pt x="4471" y="20387"/>
                      <a:pt x="12429" y="12429"/>
                    </a:cubicBezTo>
                    <a:cubicBezTo>
                      <a:pt x="20387" y="4471"/>
                      <a:pt x="31180" y="0"/>
                      <a:pt x="42434" y="0"/>
                    </a:cubicBezTo>
                    <a:close/>
                  </a:path>
                </a:pathLst>
              </a:custGeom>
              <a:ln w="95250" cap="rnd">
                <a:gradFill>
                  <a:gsLst>
                    <a:gs pos="0">
                      <a:srgbClr val="5347D9">
                        <a:alpha val="0"/>
                      </a:srgbClr>
                    </a:gs>
                    <a:gs pos="100000">
                      <a:srgbClr val="5347D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66675"/>
                <a:ext cx="1970102" cy="8423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86836" cy="1183680"/>
            </a:xfrm>
            <a:custGeom>
              <a:avLst/>
              <a:gdLst/>
              <a:ahLst/>
              <a:cxnLst/>
              <a:rect r="r" b="b" t="t" l="l"/>
              <a:pathLst>
                <a:path h="1183680" w="8186836">
                  <a:moveTo>
                    <a:pt x="0" y="0"/>
                  </a:moveTo>
                  <a:lnTo>
                    <a:pt x="8186836" y="0"/>
                  </a:lnTo>
                  <a:lnTo>
                    <a:pt x="8186836" y="1183680"/>
                  </a:lnTo>
                  <a:lnTo>
                    <a:pt x="0" y="118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853531" y="3876132"/>
              <a:ext cx="8186836" cy="1183680"/>
            </a:xfrm>
            <a:custGeom>
              <a:avLst/>
              <a:gdLst/>
              <a:ahLst/>
              <a:cxnLst/>
              <a:rect r="r" b="b" t="t" l="l"/>
              <a:pathLst>
                <a:path h="1183680" w="8186836">
                  <a:moveTo>
                    <a:pt x="0" y="0"/>
                  </a:moveTo>
                  <a:lnTo>
                    <a:pt x="8186836" y="0"/>
                  </a:lnTo>
                  <a:lnTo>
                    <a:pt x="8186836" y="1183680"/>
                  </a:lnTo>
                  <a:lnTo>
                    <a:pt x="0" y="118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08121" y="3079277"/>
            <a:ext cx="1384776" cy="1384776"/>
            <a:chOff x="0" y="0"/>
            <a:chExt cx="615832" cy="6158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5832" cy="615832"/>
            </a:xfrm>
            <a:custGeom>
              <a:avLst/>
              <a:gdLst/>
              <a:ahLst/>
              <a:cxnLst/>
              <a:rect r="r" b="b" t="t" l="l"/>
              <a:pathLst>
                <a:path h="615832" w="615832">
                  <a:moveTo>
                    <a:pt x="106224" y="0"/>
                  </a:moveTo>
                  <a:lnTo>
                    <a:pt x="509608" y="0"/>
                  </a:lnTo>
                  <a:cubicBezTo>
                    <a:pt x="568274" y="0"/>
                    <a:pt x="615832" y="47558"/>
                    <a:pt x="615832" y="106224"/>
                  </a:cubicBezTo>
                  <a:lnTo>
                    <a:pt x="615832" y="509608"/>
                  </a:lnTo>
                  <a:cubicBezTo>
                    <a:pt x="615832" y="537780"/>
                    <a:pt x="604640" y="564799"/>
                    <a:pt x="584719" y="584719"/>
                  </a:cubicBezTo>
                  <a:cubicBezTo>
                    <a:pt x="564799" y="604640"/>
                    <a:pt x="537780" y="615832"/>
                    <a:pt x="509608" y="615832"/>
                  </a:cubicBezTo>
                  <a:lnTo>
                    <a:pt x="106224" y="615832"/>
                  </a:lnTo>
                  <a:cubicBezTo>
                    <a:pt x="78052" y="615832"/>
                    <a:pt x="51033" y="604640"/>
                    <a:pt x="31112" y="584719"/>
                  </a:cubicBezTo>
                  <a:cubicBezTo>
                    <a:pt x="11191" y="564799"/>
                    <a:pt x="0" y="537780"/>
                    <a:pt x="0" y="509608"/>
                  </a:cubicBezTo>
                  <a:lnTo>
                    <a:pt x="0" y="106224"/>
                  </a:lnTo>
                  <a:cubicBezTo>
                    <a:pt x="0" y="78052"/>
                    <a:pt x="11191" y="51033"/>
                    <a:pt x="31112" y="31112"/>
                  </a:cubicBezTo>
                  <a:cubicBezTo>
                    <a:pt x="51033" y="11191"/>
                    <a:pt x="78052" y="0"/>
                    <a:pt x="1062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347D9">
                    <a:alpha val="0"/>
                  </a:srgbClr>
                </a:gs>
                <a:gs pos="100000">
                  <a:srgbClr val="5347D9">
                    <a:alpha val="100000"/>
                  </a:srgbClr>
                </a:gs>
              </a:gsLst>
              <a:lin ang="2700000"/>
            </a:gradFill>
            <a:ln w="38100" cap="sq">
              <a:gradFill>
                <a:gsLst>
                  <a:gs pos="0">
                    <a:srgbClr val="5347D9">
                      <a:alpha val="0"/>
                    </a:srgbClr>
                  </a:gs>
                  <a:gs pos="100000">
                    <a:srgbClr val="5347D9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615832" cy="682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10867" y="5316783"/>
            <a:ext cx="1384776" cy="1384776"/>
            <a:chOff x="0" y="0"/>
            <a:chExt cx="615832" cy="6158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15832" cy="615832"/>
            </a:xfrm>
            <a:custGeom>
              <a:avLst/>
              <a:gdLst/>
              <a:ahLst/>
              <a:cxnLst/>
              <a:rect r="r" b="b" t="t" l="l"/>
              <a:pathLst>
                <a:path h="615832" w="615832">
                  <a:moveTo>
                    <a:pt x="106224" y="0"/>
                  </a:moveTo>
                  <a:lnTo>
                    <a:pt x="509608" y="0"/>
                  </a:lnTo>
                  <a:cubicBezTo>
                    <a:pt x="568274" y="0"/>
                    <a:pt x="615832" y="47558"/>
                    <a:pt x="615832" y="106224"/>
                  </a:cubicBezTo>
                  <a:lnTo>
                    <a:pt x="615832" y="509608"/>
                  </a:lnTo>
                  <a:cubicBezTo>
                    <a:pt x="615832" y="537780"/>
                    <a:pt x="604640" y="564799"/>
                    <a:pt x="584719" y="584719"/>
                  </a:cubicBezTo>
                  <a:cubicBezTo>
                    <a:pt x="564799" y="604640"/>
                    <a:pt x="537780" y="615832"/>
                    <a:pt x="509608" y="615832"/>
                  </a:cubicBezTo>
                  <a:lnTo>
                    <a:pt x="106224" y="615832"/>
                  </a:lnTo>
                  <a:cubicBezTo>
                    <a:pt x="78052" y="615832"/>
                    <a:pt x="51033" y="604640"/>
                    <a:pt x="31112" y="584719"/>
                  </a:cubicBezTo>
                  <a:cubicBezTo>
                    <a:pt x="11191" y="564799"/>
                    <a:pt x="0" y="537780"/>
                    <a:pt x="0" y="509608"/>
                  </a:cubicBezTo>
                  <a:lnTo>
                    <a:pt x="0" y="106224"/>
                  </a:lnTo>
                  <a:cubicBezTo>
                    <a:pt x="0" y="78052"/>
                    <a:pt x="11191" y="51033"/>
                    <a:pt x="31112" y="31112"/>
                  </a:cubicBezTo>
                  <a:cubicBezTo>
                    <a:pt x="51033" y="11191"/>
                    <a:pt x="78052" y="0"/>
                    <a:pt x="1062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347D9">
                    <a:alpha val="0"/>
                  </a:srgbClr>
                </a:gs>
                <a:gs pos="100000">
                  <a:srgbClr val="5347D9">
                    <a:alpha val="100000"/>
                  </a:srgbClr>
                </a:gs>
              </a:gsLst>
              <a:lin ang="2700000"/>
            </a:gradFill>
            <a:ln w="38100" cap="sq">
              <a:gradFill>
                <a:gsLst>
                  <a:gs pos="0">
                    <a:srgbClr val="5347D9">
                      <a:alpha val="0"/>
                    </a:srgbClr>
                  </a:gs>
                  <a:gs pos="100000">
                    <a:srgbClr val="5347D9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615832" cy="682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08121" y="5316783"/>
            <a:ext cx="1384776" cy="1384776"/>
            <a:chOff x="0" y="0"/>
            <a:chExt cx="615832" cy="6158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15832" cy="615832"/>
            </a:xfrm>
            <a:custGeom>
              <a:avLst/>
              <a:gdLst/>
              <a:ahLst/>
              <a:cxnLst/>
              <a:rect r="r" b="b" t="t" l="l"/>
              <a:pathLst>
                <a:path h="615832" w="615832">
                  <a:moveTo>
                    <a:pt x="106224" y="0"/>
                  </a:moveTo>
                  <a:lnTo>
                    <a:pt x="509608" y="0"/>
                  </a:lnTo>
                  <a:cubicBezTo>
                    <a:pt x="568274" y="0"/>
                    <a:pt x="615832" y="47558"/>
                    <a:pt x="615832" y="106224"/>
                  </a:cubicBezTo>
                  <a:lnTo>
                    <a:pt x="615832" y="509608"/>
                  </a:lnTo>
                  <a:cubicBezTo>
                    <a:pt x="615832" y="537780"/>
                    <a:pt x="604640" y="564799"/>
                    <a:pt x="584719" y="584719"/>
                  </a:cubicBezTo>
                  <a:cubicBezTo>
                    <a:pt x="564799" y="604640"/>
                    <a:pt x="537780" y="615832"/>
                    <a:pt x="509608" y="615832"/>
                  </a:cubicBezTo>
                  <a:lnTo>
                    <a:pt x="106224" y="615832"/>
                  </a:lnTo>
                  <a:cubicBezTo>
                    <a:pt x="78052" y="615832"/>
                    <a:pt x="51033" y="604640"/>
                    <a:pt x="31112" y="584719"/>
                  </a:cubicBezTo>
                  <a:cubicBezTo>
                    <a:pt x="11191" y="564799"/>
                    <a:pt x="0" y="537780"/>
                    <a:pt x="0" y="509608"/>
                  </a:cubicBezTo>
                  <a:lnTo>
                    <a:pt x="0" y="106224"/>
                  </a:lnTo>
                  <a:cubicBezTo>
                    <a:pt x="0" y="78052"/>
                    <a:pt x="11191" y="51033"/>
                    <a:pt x="31112" y="31112"/>
                  </a:cubicBezTo>
                  <a:cubicBezTo>
                    <a:pt x="51033" y="11191"/>
                    <a:pt x="78052" y="0"/>
                    <a:pt x="1062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347D9">
                    <a:alpha val="0"/>
                  </a:srgbClr>
                </a:gs>
                <a:gs pos="100000">
                  <a:srgbClr val="5347D9">
                    <a:alpha val="100000"/>
                  </a:srgbClr>
                </a:gs>
              </a:gsLst>
              <a:lin ang="2700000"/>
            </a:gradFill>
            <a:ln w="38100" cap="sq">
              <a:gradFill>
                <a:gsLst>
                  <a:gs pos="0">
                    <a:srgbClr val="5347D9">
                      <a:alpha val="0"/>
                    </a:srgbClr>
                  </a:gs>
                  <a:gs pos="100000">
                    <a:srgbClr val="5347D9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615832" cy="682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864076" y="5546878"/>
            <a:ext cx="878359" cy="924588"/>
          </a:xfrm>
          <a:custGeom>
            <a:avLst/>
            <a:gdLst/>
            <a:ahLst/>
            <a:cxnLst/>
            <a:rect r="r" b="b" t="t" l="l"/>
            <a:pathLst>
              <a:path h="924588" w="878359">
                <a:moveTo>
                  <a:pt x="0" y="0"/>
                </a:moveTo>
                <a:lnTo>
                  <a:pt x="878358" y="0"/>
                </a:lnTo>
                <a:lnTo>
                  <a:pt x="878358" y="924587"/>
                </a:lnTo>
                <a:lnTo>
                  <a:pt x="0" y="9245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445283" y="3316439"/>
            <a:ext cx="910452" cy="910452"/>
          </a:xfrm>
          <a:custGeom>
            <a:avLst/>
            <a:gdLst/>
            <a:ahLst/>
            <a:cxnLst/>
            <a:rect r="r" b="b" t="t" l="l"/>
            <a:pathLst>
              <a:path h="910452" w="910452">
                <a:moveTo>
                  <a:pt x="0" y="0"/>
                </a:moveTo>
                <a:lnTo>
                  <a:pt x="910452" y="0"/>
                </a:lnTo>
                <a:lnTo>
                  <a:pt x="910452" y="910453"/>
                </a:lnTo>
                <a:lnTo>
                  <a:pt x="0" y="9104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421861" y="5525689"/>
            <a:ext cx="957296" cy="966966"/>
          </a:xfrm>
          <a:custGeom>
            <a:avLst/>
            <a:gdLst/>
            <a:ahLst/>
            <a:cxnLst/>
            <a:rect r="r" b="b" t="t" l="l"/>
            <a:pathLst>
              <a:path h="966966" w="957296">
                <a:moveTo>
                  <a:pt x="0" y="0"/>
                </a:moveTo>
                <a:lnTo>
                  <a:pt x="957296" y="0"/>
                </a:lnTo>
                <a:lnTo>
                  <a:pt x="957296" y="966965"/>
                </a:lnTo>
                <a:lnTo>
                  <a:pt x="0" y="96696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282874" y="3639903"/>
            <a:ext cx="4939596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Entender el problema de negocio y los datos disponibles.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80128" y="3639903"/>
            <a:ext cx="4734719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Llevar el modelo a producción de manera robusta y escalable.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282874" y="5877409"/>
            <a:ext cx="493109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Crear la solución analítica.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880128" y="5877409"/>
            <a:ext cx="4734719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Garantizar que el modelo genere valor continuo y se adapte.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82874" y="3136427"/>
            <a:ext cx="5401372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9999FF"/>
                </a:solidFill>
                <a:latin typeface="Poppins Bold"/>
                <a:ea typeface="Poppins Bold"/>
                <a:cs typeface="Poppins Bold"/>
                <a:sym typeface="Poppins Bold"/>
              </a:rPr>
              <a:t>Descubrimiento y Diagnóstico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9880128" y="3136427"/>
            <a:ext cx="5757862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9999FF"/>
                </a:solidFill>
                <a:latin typeface="Poppins Bold"/>
                <a:ea typeface="Poppins Bold"/>
                <a:cs typeface="Poppins Bold"/>
                <a:sym typeface="Poppins Bold"/>
              </a:rPr>
              <a:t> Implementación y Automatización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2282874" y="5373933"/>
            <a:ext cx="4605944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9999FF"/>
                </a:solidFill>
                <a:latin typeface="Poppins Bold"/>
                <a:ea typeface="Poppins Bold"/>
                <a:cs typeface="Poppins Bold"/>
                <a:sym typeface="Poppins Bold"/>
              </a:rPr>
              <a:t>Diseño y Modelación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9880128" y="5373933"/>
            <a:ext cx="3333750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9999FF"/>
                </a:solidFill>
                <a:latin typeface="Poppins Bold"/>
                <a:ea typeface="Poppins Bold"/>
                <a:cs typeface="Poppins Bold"/>
                <a:sym typeface="Poppins Bold"/>
              </a:rPr>
              <a:t>Impulso y Monitoreo</a:t>
            </a:r>
          </a:p>
          <a:p>
            <a:pPr algn="l">
              <a:lnSpc>
                <a:spcPts val="3499"/>
              </a:lnSpc>
            </a:pPr>
          </a:p>
        </p:txBody>
      </p:sp>
      <p:grpSp>
        <p:nvGrpSpPr>
          <p:cNvPr name="Group 35" id="35"/>
          <p:cNvGrpSpPr/>
          <p:nvPr/>
        </p:nvGrpSpPr>
        <p:grpSpPr>
          <a:xfrm rot="0">
            <a:off x="612348" y="2985615"/>
            <a:ext cx="1384776" cy="1384776"/>
            <a:chOff x="0" y="0"/>
            <a:chExt cx="1846369" cy="1846369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846369" cy="1846369"/>
              <a:chOff x="0" y="0"/>
              <a:chExt cx="615832" cy="615832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615832" cy="615832"/>
              </a:xfrm>
              <a:custGeom>
                <a:avLst/>
                <a:gdLst/>
                <a:ahLst/>
                <a:cxnLst/>
                <a:rect r="r" b="b" t="t" l="l"/>
                <a:pathLst>
                  <a:path h="615832" w="615832">
                    <a:moveTo>
                      <a:pt x="106224" y="0"/>
                    </a:moveTo>
                    <a:lnTo>
                      <a:pt x="509608" y="0"/>
                    </a:lnTo>
                    <a:cubicBezTo>
                      <a:pt x="568274" y="0"/>
                      <a:pt x="615832" y="47558"/>
                      <a:pt x="615832" y="106224"/>
                    </a:cubicBezTo>
                    <a:lnTo>
                      <a:pt x="615832" y="509608"/>
                    </a:lnTo>
                    <a:cubicBezTo>
                      <a:pt x="615832" y="537780"/>
                      <a:pt x="604640" y="564799"/>
                      <a:pt x="584719" y="584719"/>
                    </a:cubicBezTo>
                    <a:cubicBezTo>
                      <a:pt x="564799" y="604640"/>
                      <a:pt x="537780" y="615832"/>
                      <a:pt x="509608" y="615832"/>
                    </a:cubicBezTo>
                    <a:lnTo>
                      <a:pt x="106224" y="615832"/>
                    </a:lnTo>
                    <a:cubicBezTo>
                      <a:pt x="78052" y="615832"/>
                      <a:pt x="51033" y="604640"/>
                      <a:pt x="31112" y="584719"/>
                    </a:cubicBezTo>
                    <a:cubicBezTo>
                      <a:pt x="11191" y="564799"/>
                      <a:pt x="0" y="537780"/>
                      <a:pt x="0" y="509608"/>
                    </a:cubicBezTo>
                    <a:lnTo>
                      <a:pt x="0" y="106224"/>
                    </a:lnTo>
                    <a:cubicBezTo>
                      <a:pt x="0" y="78052"/>
                      <a:pt x="11191" y="51033"/>
                      <a:pt x="31112" y="31112"/>
                    </a:cubicBezTo>
                    <a:cubicBezTo>
                      <a:pt x="51033" y="11191"/>
                      <a:pt x="78052" y="0"/>
                      <a:pt x="10622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347D9">
                      <a:alpha val="0"/>
                    </a:srgbClr>
                  </a:gs>
                  <a:gs pos="100000">
                    <a:srgbClr val="5347D9">
                      <a:alpha val="100000"/>
                    </a:srgbClr>
                  </a:gs>
                </a:gsLst>
                <a:lin ang="2700000"/>
              </a:gradFill>
              <a:ln w="38100" cap="sq">
                <a:gradFill>
                  <a:gsLst>
                    <a:gs pos="0">
                      <a:srgbClr val="5347D9">
                        <a:alpha val="0"/>
                      </a:srgbClr>
                    </a:gs>
                    <a:gs pos="100000">
                      <a:srgbClr val="5347D9">
                        <a:alpha val="10000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66675"/>
                <a:ext cx="615832" cy="6825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3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39" id="39"/>
            <p:cNvSpPr/>
            <p:nvPr/>
          </p:nvSpPr>
          <p:spPr>
            <a:xfrm flipH="false" flipV="false" rot="0">
              <a:off x="337612" y="224232"/>
              <a:ext cx="1308788" cy="1397904"/>
            </a:xfrm>
            <a:custGeom>
              <a:avLst/>
              <a:gdLst/>
              <a:ahLst/>
              <a:cxnLst/>
              <a:rect r="r" b="b" t="t" l="l"/>
              <a:pathLst>
                <a:path h="1397904" w="1308788">
                  <a:moveTo>
                    <a:pt x="0" y="0"/>
                  </a:moveTo>
                  <a:lnTo>
                    <a:pt x="1308788" y="0"/>
                  </a:lnTo>
                  <a:lnTo>
                    <a:pt x="1308788" y="1397904"/>
                  </a:lnTo>
                  <a:lnTo>
                    <a:pt x="0" y="1397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7971" y="1265282"/>
            <a:ext cx="1609132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D9EA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Casos de exito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04962" y="9702078"/>
            <a:ext cx="8851486" cy="34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397" indent="-210698" lvl="1">
              <a:lnSpc>
                <a:spcPts val="2732"/>
              </a:lnSpc>
              <a:buAutoNum type="arabicPeriod" startAt="1"/>
            </a:pPr>
            <a:r>
              <a:rPr lang="en-US" b="true" sz="1951">
                <a:solidFill>
                  <a:srgbClr val="509FC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http://drewconway.com/zia/2013/3/26/the-data-science-venn-diagram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149323" y="3952281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550621" y="2128882"/>
            <a:ext cx="5787173" cy="4969108"/>
            <a:chOff x="0" y="0"/>
            <a:chExt cx="896585" cy="7698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6585" cy="769845"/>
            </a:xfrm>
            <a:custGeom>
              <a:avLst/>
              <a:gdLst/>
              <a:ahLst/>
              <a:cxnLst/>
              <a:rect r="r" b="b" t="t" l="l"/>
              <a:pathLst>
                <a:path h="769845" w="896585">
                  <a:moveTo>
                    <a:pt x="74915" y="0"/>
                  </a:moveTo>
                  <a:lnTo>
                    <a:pt x="821669" y="0"/>
                  </a:lnTo>
                  <a:cubicBezTo>
                    <a:pt x="841538" y="0"/>
                    <a:pt x="860593" y="7893"/>
                    <a:pt x="874642" y="21942"/>
                  </a:cubicBezTo>
                  <a:cubicBezTo>
                    <a:pt x="888692" y="35992"/>
                    <a:pt x="896585" y="55046"/>
                    <a:pt x="896585" y="74915"/>
                  </a:cubicBezTo>
                  <a:lnTo>
                    <a:pt x="896585" y="694930"/>
                  </a:lnTo>
                  <a:cubicBezTo>
                    <a:pt x="896585" y="736304"/>
                    <a:pt x="863044" y="769845"/>
                    <a:pt x="821669" y="769845"/>
                  </a:cubicBezTo>
                  <a:lnTo>
                    <a:pt x="74915" y="769845"/>
                  </a:lnTo>
                  <a:cubicBezTo>
                    <a:pt x="33541" y="769845"/>
                    <a:pt x="0" y="736304"/>
                    <a:pt x="0" y="694930"/>
                  </a:cubicBezTo>
                  <a:lnTo>
                    <a:pt x="0" y="74915"/>
                  </a:lnTo>
                  <a:cubicBezTo>
                    <a:pt x="0" y="33541"/>
                    <a:pt x="33541" y="0"/>
                    <a:pt x="74915" y="0"/>
                  </a:cubicBezTo>
                  <a:close/>
                </a:path>
              </a:pathLst>
            </a:custGeom>
            <a:blipFill>
              <a:blip r:embed="rId4"/>
              <a:stretch>
                <a:fillRect l="-6120" t="0" r="-612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38737" y="5387943"/>
            <a:ext cx="4299005" cy="2983601"/>
            <a:chOff x="0" y="0"/>
            <a:chExt cx="999406" cy="6936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99406" cy="693609"/>
            </a:xfrm>
            <a:custGeom>
              <a:avLst/>
              <a:gdLst/>
              <a:ahLst/>
              <a:cxnLst/>
              <a:rect r="r" b="b" t="t" l="l"/>
              <a:pathLst>
                <a:path h="693609" w="999406">
                  <a:moveTo>
                    <a:pt x="100848" y="0"/>
                  </a:moveTo>
                  <a:lnTo>
                    <a:pt x="898558" y="0"/>
                  </a:lnTo>
                  <a:cubicBezTo>
                    <a:pt x="954255" y="0"/>
                    <a:pt x="999406" y="45151"/>
                    <a:pt x="999406" y="100848"/>
                  </a:cubicBezTo>
                  <a:lnTo>
                    <a:pt x="999406" y="592761"/>
                  </a:lnTo>
                  <a:cubicBezTo>
                    <a:pt x="999406" y="648458"/>
                    <a:pt x="954255" y="693609"/>
                    <a:pt x="898558" y="693609"/>
                  </a:cubicBezTo>
                  <a:lnTo>
                    <a:pt x="100848" y="693609"/>
                  </a:lnTo>
                  <a:cubicBezTo>
                    <a:pt x="45151" y="693609"/>
                    <a:pt x="0" y="648458"/>
                    <a:pt x="0" y="592761"/>
                  </a:cubicBezTo>
                  <a:lnTo>
                    <a:pt x="0" y="100848"/>
                  </a:lnTo>
                  <a:cubicBezTo>
                    <a:pt x="0" y="45151"/>
                    <a:pt x="45151" y="0"/>
                    <a:pt x="100848" y="0"/>
                  </a:cubicBezTo>
                  <a:close/>
                </a:path>
              </a:pathLst>
            </a:custGeom>
            <a:blipFill>
              <a:blip r:embed="rId5"/>
              <a:stretch>
                <a:fillRect l="-85367" t="-33359" r="0" b="-44589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832600" y="8721930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574661" y="-2875072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8" y="0"/>
                </a:lnTo>
                <a:lnTo>
                  <a:pt x="5138678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93009" y="2273977"/>
            <a:ext cx="9337696" cy="1678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4800" b="true">
                <a:solidFill>
                  <a:srgbClr val="509FC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Aterrizando la teoría en resultados medibles.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11219" y="-4191951"/>
            <a:ext cx="10696161" cy="10174724"/>
          </a:xfrm>
          <a:custGeom>
            <a:avLst/>
            <a:gdLst/>
            <a:ahLst/>
            <a:cxnLst/>
            <a:rect r="r" b="b" t="t" l="l"/>
            <a:pathLst>
              <a:path h="10174724" w="10696161">
                <a:moveTo>
                  <a:pt x="0" y="0"/>
                </a:moveTo>
                <a:lnTo>
                  <a:pt x="10696162" y="0"/>
                </a:lnTo>
                <a:lnTo>
                  <a:pt x="10696162" y="10174724"/>
                </a:lnTo>
                <a:lnTo>
                  <a:pt x="0" y="10174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803574">
            <a:off x="-3009583" y="4548552"/>
            <a:ext cx="8106264" cy="8524787"/>
          </a:xfrm>
          <a:custGeom>
            <a:avLst/>
            <a:gdLst/>
            <a:ahLst/>
            <a:cxnLst/>
            <a:rect r="r" b="b" t="t" l="l"/>
            <a:pathLst>
              <a:path h="8524787" w="8106264">
                <a:moveTo>
                  <a:pt x="0" y="0"/>
                </a:moveTo>
                <a:lnTo>
                  <a:pt x="8106264" y="0"/>
                </a:lnTo>
                <a:lnTo>
                  <a:pt x="8106264" y="8524786"/>
                </a:lnTo>
                <a:lnTo>
                  <a:pt x="0" y="8524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446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506033">
            <a:off x="14234868" y="4995907"/>
            <a:ext cx="8106264" cy="8524787"/>
          </a:xfrm>
          <a:custGeom>
            <a:avLst/>
            <a:gdLst/>
            <a:ahLst/>
            <a:cxnLst/>
            <a:rect r="r" b="b" t="t" l="l"/>
            <a:pathLst>
              <a:path h="8524787" w="8106264">
                <a:moveTo>
                  <a:pt x="0" y="0"/>
                </a:moveTo>
                <a:lnTo>
                  <a:pt x="8106264" y="0"/>
                </a:lnTo>
                <a:lnTo>
                  <a:pt x="8106264" y="8524786"/>
                </a:lnTo>
                <a:lnTo>
                  <a:pt x="0" y="8524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44624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011108" y="0"/>
            <a:ext cx="9623789" cy="8333767"/>
            <a:chOff x="0" y="0"/>
            <a:chExt cx="4282440" cy="370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6"/>
              <a:stretch>
                <a:fillRect l="-12038" t="0" r="-12038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4499421" y="5157484"/>
            <a:ext cx="4542609" cy="3688817"/>
          </a:xfrm>
          <a:custGeom>
            <a:avLst/>
            <a:gdLst/>
            <a:ahLst/>
            <a:cxnLst/>
            <a:rect r="r" b="b" t="t" l="l"/>
            <a:pathLst>
              <a:path h="3688817" w="4542609">
                <a:moveTo>
                  <a:pt x="0" y="0"/>
                </a:moveTo>
                <a:lnTo>
                  <a:pt x="4542608" y="0"/>
                </a:lnTo>
                <a:lnTo>
                  <a:pt x="4542608" y="3688817"/>
                </a:lnTo>
                <a:lnTo>
                  <a:pt x="0" y="36888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96292" y="579837"/>
            <a:ext cx="9509648" cy="337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509FC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Versionamiento y Migración de Modelos</a:t>
            </a:r>
          </a:p>
          <a:p>
            <a:pPr algn="l">
              <a:lnSpc>
                <a:spcPts val="89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351677" y="3074487"/>
            <a:ext cx="8304726" cy="4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B6E4F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MIGRAR MODELOS DE MACHINE LEARNING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76593" y="4090684"/>
            <a:ext cx="7729347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Traducir la logica detras del modelo 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11219" y="-4191951"/>
            <a:ext cx="10696161" cy="10174724"/>
          </a:xfrm>
          <a:custGeom>
            <a:avLst/>
            <a:gdLst/>
            <a:ahLst/>
            <a:cxnLst/>
            <a:rect r="r" b="b" t="t" l="l"/>
            <a:pathLst>
              <a:path h="10174724" w="10696161">
                <a:moveTo>
                  <a:pt x="0" y="0"/>
                </a:moveTo>
                <a:lnTo>
                  <a:pt x="10696162" y="0"/>
                </a:lnTo>
                <a:lnTo>
                  <a:pt x="10696162" y="10174724"/>
                </a:lnTo>
                <a:lnTo>
                  <a:pt x="0" y="10174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803574">
            <a:off x="-3009583" y="4548552"/>
            <a:ext cx="8106264" cy="8524787"/>
          </a:xfrm>
          <a:custGeom>
            <a:avLst/>
            <a:gdLst/>
            <a:ahLst/>
            <a:cxnLst/>
            <a:rect r="r" b="b" t="t" l="l"/>
            <a:pathLst>
              <a:path h="8524787" w="8106264">
                <a:moveTo>
                  <a:pt x="0" y="0"/>
                </a:moveTo>
                <a:lnTo>
                  <a:pt x="8106264" y="0"/>
                </a:lnTo>
                <a:lnTo>
                  <a:pt x="8106264" y="8524786"/>
                </a:lnTo>
                <a:lnTo>
                  <a:pt x="0" y="8524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446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506033">
            <a:off x="14234868" y="4995907"/>
            <a:ext cx="8106264" cy="8524787"/>
          </a:xfrm>
          <a:custGeom>
            <a:avLst/>
            <a:gdLst/>
            <a:ahLst/>
            <a:cxnLst/>
            <a:rect r="r" b="b" t="t" l="l"/>
            <a:pathLst>
              <a:path h="8524787" w="8106264">
                <a:moveTo>
                  <a:pt x="0" y="0"/>
                </a:moveTo>
                <a:lnTo>
                  <a:pt x="8106264" y="0"/>
                </a:lnTo>
                <a:lnTo>
                  <a:pt x="8106264" y="8524786"/>
                </a:lnTo>
                <a:lnTo>
                  <a:pt x="0" y="8524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44624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011108" y="0"/>
            <a:ext cx="9623789" cy="8333767"/>
            <a:chOff x="0" y="0"/>
            <a:chExt cx="4282440" cy="370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6"/>
              <a:stretch>
                <a:fillRect l="-12038" t="0" r="-12038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4590031" y="6224284"/>
            <a:ext cx="6421077" cy="2902942"/>
          </a:xfrm>
          <a:custGeom>
            <a:avLst/>
            <a:gdLst/>
            <a:ahLst/>
            <a:cxnLst/>
            <a:rect r="r" b="b" t="t" l="l"/>
            <a:pathLst>
              <a:path h="2902942" w="6421077">
                <a:moveTo>
                  <a:pt x="0" y="0"/>
                </a:moveTo>
                <a:lnTo>
                  <a:pt x="6421077" y="0"/>
                </a:lnTo>
                <a:lnTo>
                  <a:pt x="6421077" y="2902942"/>
                </a:lnTo>
                <a:lnTo>
                  <a:pt x="0" y="29029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96292" y="579837"/>
            <a:ext cx="9509648" cy="337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509FC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Versionamiento y Migración de Modelos</a:t>
            </a:r>
          </a:p>
          <a:p>
            <a:pPr algn="l">
              <a:lnSpc>
                <a:spcPts val="89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351677" y="3074487"/>
            <a:ext cx="8304726" cy="4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B6E4F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MIGRAR MODELOS DE MACHINE LEARNING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76593" y="4090684"/>
            <a:ext cx="7729347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Ambientar el modelo en un lenguaje mas robusto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126828" y="9239250"/>
            <a:ext cx="8737699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Diagrama de flujo de trabajo ágil para ciencia de datos. Wismut Labs. 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Disponible en: https://wismutlabs.com/blog/agile-data-science-2/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03574">
            <a:off x="-3229007" y="4942016"/>
            <a:ext cx="8106264" cy="8524787"/>
          </a:xfrm>
          <a:custGeom>
            <a:avLst/>
            <a:gdLst/>
            <a:ahLst/>
            <a:cxnLst/>
            <a:rect r="r" b="b" t="t" l="l"/>
            <a:pathLst>
              <a:path h="8524787" w="8106264">
                <a:moveTo>
                  <a:pt x="0" y="0"/>
                </a:moveTo>
                <a:lnTo>
                  <a:pt x="8106264" y="0"/>
                </a:lnTo>
                <a:lnTo>
                  <a:pt x="8106264" y="8524786"/>
                </a:lnTo>
                <a:lnTo>
                  <a:pt x="0" y="85247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446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639383">
            <a:off x="-2623104" y="-3403514"/>
            <a:ext cx="8106264" cy="6807027"/>
          </a:xfrm>
          <a:custGeom>
            <a:avLst/>
            <a:gdLst/>
            <a:ahLst/>
            <a:cxnLst/>
            <a:rect r="r" b="b" t="t" l="l"/>
            <a:pathLst>
              <a:path h="6807027" w="8106264">
                <a:moveTo>
                  <a:pt x="0" y="0"/>
                </a:moveTo>
                <a:lnTo>
                  <a:pt x="8106263" y="0"/>
                </a:lnTo>
                <a:lnTo>
                  <a:pt x="8106263" y="6807028"/>
                </a:lnTo>
                <a:lnTo>
                  <a:pt x="0" y="6807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8112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10770" y="1931555"/>
            <a:ext cx="9864270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509FC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Optimización de portafolios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88162" y="3175757"/>
            <a:ext cx="8304726" cy="941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B6E4F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RENTABILIDAD MAXIMA CON LOS SIGUIENTES REQUERIMIENTOS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02396" y="4403942"/>
            <a:ext cx="7729347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•Tasa objetivo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•Nivel de perdidas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•Mínima colocación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•Posibilidad de n tasas distintas </a:t>
            </a:r>
          </a:p>
          <a:p>
            <a:pPr algn="l">
              <a:lnSpc>
                <a:spcPts val="420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0870674" y="0"/>
            <a:ext cx="10467647" cy="8995634"/>
            <a:chOff x="0" y="0"/>
            <a:chExt cx="812800" cy="69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993" y="0"/>
              <a:ext cx="806815" cy="698500"/>
            </a:xfrm>
            <a:custGeom>
              <a:avLst/>
              <a:gdLst/>
              <a:ahLst/>
              <a:cxnLst/>
              <a:rect r="r" b="b" t="t" l="l"/>
              <a:pathLst>
                <a:path h="698500" w="806815">
                  <a:moveTo>
                    <a:pt x="804228" y="358839"/>
                  </a:moveTo>
                  <a:lnTo>
                    <a:pt x="612186" y="688911"/>
                  </a:lnTo>
                  <a:cubicBezTo>
                    <a:pt x="608732" y="694848"/>
                    <a:pt x="602382" y="698500"/>
                    <a:pt x="595513" y="698500"/>
                  </a:cubicBezTo>
                  <a:lnTo>
                    <a:pt x="211301" y="698500"/>
                  </a:lnTo>
                  <a:cubicBezTo>
                    <a:pt x="204432" y="698500"/>
                    <a:pt x="198082" y="694848"/>
                    <a:pt x="194628" y="688911"/>
                  </a:cubicBezTo>
                  <a:lnTo>
                    <a:pt x="2586" y="358839"/>
                  </a:lnTo>
                  <a:cubicBezTo>
                    <a:pt x="-863" y="352912"/>
                    <a:pt x="-863" y="345588"/>
                    <a:pt x="2586" y="339661"/>
                  </a:cubicBezTo>
                  <a:lnTo>
                    <a:pt x="194628" y="9589"/>
                  </a:lnTo>
                  <a:cubicBezTo>
                    <a:pt x="198082" y="3652"/>
                    <a:pt x="204432" y="0"/>
                    <a:pt x="211301" y="0"/>
                  </a:cubicBezTo>
                  <a:lnTo>
                    <a:pt x="595513" y="0"/>
                  </a:lnTo>
                  <a:cubicBezTo>
                    <a:pt x="602382" y="0"/>
                    <a:pt x="608732" y="3652"/>
                    <a:pt x="612186" y="9589"/>
                  </a:cubicBezTo>
                  <a:lnTo>
                    <a:pt x="804228" y="339661"/>
                  </a:lnTo>
                  <a:cubicBezTo>
                    <a:pt x="807677" y="345588"/>
                    <a:pt x="807677" y="352912"/>
                    <a:pt x="804228" y="358839"/>
                  </a:cubicBezTo>
                  <a:close/>
                </a:path>
              </a:pathLst>
            </a:custGeom>
            <a:blipFill>
              <a:blip r:embed="rId4"/>
              <a:stretch>
                <a:fillRect l="-14931" t="0" r="-14931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03574">
            <a:off x="-3229007" y="4942016"/>
            <a:ext cx="8106264" cy="8524787"/>
          </a:xfrm>
          <a:custGeom>
            <a:avLst/>
            <a:gdLst/>
            <a:ahLst/>
            <a:cxnLst/>
            <a:rect r="r" b="b" t="t" l="l"/>
            <a:pathLst>
              <a:path h="8524787" w="8106264">
                <a:moveTo>
                  <a:pt x="0" y="0"/>
                </a:moveTo>
                <a:lnTo>
                  <a:pt x="8106264" y="0"/>
                </a:lnTo>
                <a:lnTo>
                  <a:pt x="8106264" y="8524786"/>
                </a:lnTo>
                <a:lnTo>
                  <a:pt x="0" y="85247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446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639383">
            <a:off x="-2623104" y="-3403514"/>
            <a:ext cx="8106264" cy="6807027"/>
          </a:xfrm>
          <a:custGeom>
            <a:avLst/>
            <a:gdLst/>
            <a:ahLst/>
            <a:cxnLst/>
            <a:rect r="r" b="b" t="t" l="l"/>
            <a:pathLst>
              <a:path h="6807027" w="8106264">
                <a:moveTo>
                  <a:pt x="0" y="0"/>
                </a:moveTo>
                <a:lnTo>
                  <a:pt x="8106263" y="0"/>
                </a:lnTo>
                <a:lnTo>
                  <a:pt x="8106263" y="6807028"/>
                </a:lnTo>
                <a:lnTo>
                  <a:pt x="0" y="6807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8112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10770" y="1931555"/>
            <a:ext cx="9864270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509FC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Optimización de portafolios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88162" y="3175757"/>
            <a:ext cx="8304726" cy="941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B6E4F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RENTABILIDAD MAXIMA CON LOS SIGUIENTES REQUERIMIENTOS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02396" y="4403942"/>
            <a:ext cx="7729347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•Tasa objetivo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•Nivel de perdidas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•Mínima colocación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•Posibilidad de  tasas distintas </a:t>
            </a:r>
          </a:p>
          <a:p>
            <a:pPr algn="l">
              <a:lnSpc>
                <a:spcPts val="420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0870674" y="0"/>
            <a:ext cx="10467647" cy="8995634"/>
            <a:chOff x="0" y="0"/>
            <a:chExt cx="812800" cy="69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993" y="0"/>
              <a:ext cx="806815" cy="698500"/>
            </a:xfrm>
            <a:custGeom>
              <a:avLst/>
              <a:gdLst/>
              <a:ahLst/>
              <a:cxnLst/>
              <a:rect r="r" b="b" t="t" l="l"/>
              <a:pathLst>
                <a:path h="698500" w="806815">
                  <a:moveTo>
                    <a:pt x="804228" y="358839"/>
                  </a:moveTo>
                  <a:lnTo>
                    <a:pt x="612186" y="688911"/>
                  </a:lnTo>
                  <a:cubicBezTo>
                    <a:pt x="608732" y="694848"/>
                    <a:pt x="602382" y="698500"/>
                    <a:pt x="595513" y="698500"/>
                  </a:cubicBezTo>
                  <a:lnTo>
                    <a:pt x="211301" y="698500"/>
                  </a:lnTo>
                  <a:cubicBezTo>
                    <a:pt x="204432" y="698500"/>
                    <a:pt x="198082" y="694848"/>
                    <a:pt x="194628" y="688911"/>
                  </a:cubicBezTo>
                  <a:lnTo>
                    <a:pt x="2586" y="358839"/>
                  </a:lnTo>
                  <a:cubicBezTo>
                    <a:pt x="-863" y="352912"/>
                    <a:pt x="-863" y="345588"/>
                    <a:pt x="2586" y="339661"/>
                  </a:cubicBezTo>
                  <a:lnTo>
                    <a:pt x="194628" y="9589"/>
                  </a:lnTo>
                  <a:cubicBezTo>
                    <a:pt x="198082" y="3652"/>
                    <a:pt x="204432" y="0"/>
                    <a:pt x="211301" y="0"/>
                  </a:cubicBezTo>
                  <a:lnTo>
                    <a:pt x="595513" y="0"/>
                  </a:lnTo>
                  <a:cubicBezTo>
                    <a:pt x="602382" y="0"/>
                    <a:pt x="608732" y="3652"/>
                    <a:pt x="612186" y="9589"/>
                  </a:cubicBezTo>
                  <a:lnTo>
                    <a:pt x="804228" y="339661"/>
                  </a:lnTo>
                  <a:cubicBezTo>
                    <a:pt x="807677" y="345588"/>
                    <a:pt x="807677" y="352912"/>
                    <a:pt x="804228" y="358839"/>
                  </a:cubicBezTo>
                  <a:close/>
                </a:path>
              </a:pathLst>
            </a:custGeom>
            <a:blipFill>
              <a:blip r:embed="rId4"/>
              <a:stretch>
                <a:fillRect l="-14931" t="0" r="-14931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4593341" y="7841204"/>
            <a:ext cx="6621879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Incremento en ganancias y modificando el comportamiento del portafolio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65948" y="7333469"/>
            <a:ext cx="8304726" cy="4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B6E4F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RESULTADO: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60698" y="9262334"/>
            <a:ext cx="11927302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Global Finance. (2018). Global Finance Names Innovators 2018. Global Finance Magazine. </a:t>
            </a:r>
            <a:r>
              <a:rPr lang="en-US" sz="2400" u="sng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5" tooltip="https://gfmag.com/award/global-finance-names-innovators-2018/"/>
              </a:rPr>
              <a:t>https://gfmag.com/award/global-finance-names-innovators-2018/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59913" y="-7244187"/>
            <a:ext cx="10696161" cy="10174724"/>
          </a:xfrm>
          <a:custGeom>
            <a:avLst/>
            <a:gdLst/>
            <a:ahLst/>
            <a:cxnLst/>
            <a:rect r="r" b="b" t="t" l="l"/>
            <a:pathLst>
              <a:path h="10174724" w="10696161">
                <a:moveTo>
                  <a:pt x="0" y="0"/>
                </a:moveTo>
                <a:lnTo>
                  <a:pt x="10696161" y="0"/>
                </a:lnTo>
                <a:lnTo>
                  <a:pt x="10696161" y="10174724"/>
                </a:lnTo>
                <a:lnTo>
                  <a:pt x="0" y="10174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4421624">
            <a:off x="13622333" y="5777762"/>
            <a:ext cx="7273934" cy="7875811"/>
          </a:xfrm>
          <a:custGeom>
            <a:avLst/>
            <a:gdLst/>
            <a:ahLst/>
            <a:cxnLst/>
            <a:rect r="r" b="b" t="t" l="l"/>
            <a:pathLst>
              <a:path h="7875811" w="7273934">
                <a:moveTo>
                  <a:pt x="0" y="7875810"/>
                </a:moveTo>
                <a:lnTo>
                  <a:pt x="7273934" y="7875810"/>
                </a:lnTo>
                <a:lnTo>
                  <a:pt x="7273934" y="0"/>
                </a:lnTo>
                <a:lnTo>
                  <a:pt x="0" y="0"/>
                </a:lnTo>
                <a:lnTo>
                  <a:pt x="0" y="787581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0468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0238" y="4144010"/>
            <a:ext cx="10529519" cy="126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509FC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Mejorar la experiencia del cliente y maximizar rentabilidad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0238" y="3163909"/>
            <a:ext cx="7239924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D9EAF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Asignación de Ofertas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0238" y="5486400"/>
            <a:ext cx="6527605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Calcular valor de cada oferta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Ofertas personalizadas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Mantener el riesgo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Cumplir metas de negocio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598627" y="-1030560"/>
            <a:ext cx="10072015" cy="8655638"/>
            <a:chOff x="0" y="0"/>
            <a:chExt cx="812800" cy="69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110" y="0"/>
              <a:ext cx="806580" cy="698500"/>
            </a:xfrm>
            <a:custGeom>
              <a:avLst/>
              <a:gdLst/>
              <a:ahLst/>
              <a:cxnLst/>
              <a:rect r="r" b="b" t="t" l="l"/>
              <a:pathLst>
                <a:path h="698500" w="806580">
                  <a:moveTo>
                    <a:pt x="803892" y="359216"/>
                  </a:moveTo>
                  <a:lnTo>
                    <a:pt x="612288" y="688534"/>
                  </a:lnTo>
                  <a:cubicBezTo>
                    <a:pt x="608698" y="694704"/>
                    <a:pt x="602099" y="698500"/>
                    <a:pt x="594960" y="698500"/>
                  </a:cubicBezTo>
                  <a:lnTo>
                    <a:pt x="211620" y="698500"/>
                  </a:lnTo>
                  <a:cubicBezTo>
                    <a:pt x="204481" y="698500"/>
                    <a:pt x="197882" y="694704"/>
                    <a:pt x="194292" y="688534"/>
                  </a:cubicBezTo>
                  <a:lnTo>
                    <a:pt x="2688" y="359216"/>
                  </a:lnTo>
                  <a:cubicBezTo>
                    <a:pt x="-896" y="353055"/>
                    <a:pt x="-896" y="345445"/>
                    <a:pt x="2688" y="339284"/>
                  </a:cubicBezTo>
                  <a:lnTo>
                    <a:pt x="194292" y="9966"/>
                  </a:lnTo>
                  <a:cubicBezTo>
                    <a:pt x="197882" y="3796"/>
                    <a:pt x="204481" y="0"/>
                    <a:pt x="211620" y="0"/>
                  </a:cubicBezTo>
                  <a:lnTo>
                    <a:pt x="594960" y="0"/>
                  </a:lnTo>
                  <a:cubicBezTo>
                    <a:pt x="602099" y="0"/>
                    <a:pt x="608698" y="3796"/>
                    <a:pt x="612288" y="9966"/>
                  </a:cubicBezTo>
                  <a:lnTo>
                    <a:pt x="803892" y="339284"/>
                  </a:lnTo>
                  <a:cubicBezTo>
                    <a:pt x="807476" y="345445"/>
                    <a:pt x="807476" y="353055"/>
                    <a:pt x="803892" y="359216"/>
                  </a:cubicBezTo>
                  <a:close/>
                </a:path>
              </a:pathLst>
            </a:custGeom>
            <a:blipFill>
              <a:blip r:embed="rId6"/>
              <a:stretch>
                <a:fillRect l="-69948" t="0" r="-8302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59913" y="-7244187"/>
            <a:ext cx="10696161" cy="10174724"/>
          </a:xfrm>
          <a:custGeom>
            <a:avLst/>
            <a:gdLst/>
            <a:ahLst/>
            <a:cxnLst/>
            <a:rect r="r" b="b" t="t" l="l"/>
            <a:pathLst>
              <a:path h="10174724" w="10696161">
                <a:moveTo>
                  <a:pt x="0" y="0"/>
                </a:moveTo>
                <a:lnTo>
                  <a:pt x="10696161" y="0"/>
                </a:lnTo>
                <a:lnTo>
                  <a:pt x="10696161" y="10174724"/>
                </a:lnTo>
                <a:lnTo>
                  <a:pt x="0" y="10174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4421624">
            <a:off x="13622333" y="5777762"/>
            <a:ext cx="7273934" cy="7875811"/>
          </a:xfrm>
          <a:custGeom>
            <a:avLst/>
            <a:gdLst/>
            <a:ahLst/>
            <a:cxnLst/>
            <a:rect r="r" b="b" t="t" l="l"/>
            <a:pathLst>
              <a:path h="7875811" w="7273934">
                <a:moveTo>
                  <a:pt x="0" y="7875810"/>
                </a:moveTo>
                <a:lnTo>
                  <a:pt x="7273934" y="7875810"/>
                </a:lnTo>
                <a:lnTo>
                  <a:pt x="7273934" y="0"/>
                </a:lnTo>
                <a:lnTo>
                  <a:pt x="0" y="0"/>
                </a:lnTo>
                <a:lnTo>
                  <a:pt x="0" y="787581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0468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0238" y="4144010"/>
            <a:ext cx="10529519" cy="126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509FC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Mejorar la experiencia del cliente y maximizar rentabilidad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0238" y="3163909"/>
            <a:ext cx="7239924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D9EAF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Asignación de Ofertas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0238" y="5486400"/>
            <a:ext cx="6527605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Calcular valor de cada oferta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Ofertas personalizadas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Mantener el riesgo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Cumplir metas de negocio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598627" y="-1030560"/>
            <a:ext cx="10072015" cy="8655638"/>
            <a:chOff x="0" y="0"/>
            <a:chExt cx="812800" cy="69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110" y="0"/>
              <a:ext cx="806580" cy="698500"/>
            </a:xfrm>
            <a:custGeom>
              <a:avLst/>
              <a:gdLst/>
              <a:ahLst/>
              <a:cxnLst/>
              <a:rect r="r" b="b" t="t" l="l"/>
              <a:pathLst>
                <a:path h="698500" w="806580">
                  <a:moveTo>
                    <a:pt x="803892" y="359216"/>
                  </a:moveTo>
                  <a:lnTo>
                    <a:pt x="612288" y="688534"/>
                  </a:lnTo>
                  <a:cubicBezTo>
                    <a:pt x="608698" y="694704"/>
                    <a:pt x="602099" y="698500"/>
                    <a:pt x="594960" y="698500"/>
                  </a:cubicBezTo>
                  <a:lnTo>
                    <a:pt x="211620" y="698500"/>
                  </a:lnTo>
                  <a:cubicBezTo>
                    <a:pt x="204481" y="698500"/>
                    <a:pt x="197882" y="694704"/>
                    <a:pt x="194292" y="688534"/>
                  </a:cubicBezTo>
                  <a:lnTo>
                    <a:pt x="2688" y="359216"/>
                  </a:lnTo>
                  <a:cubicBezTo>
                    <a:pt x="-896" y="353055"/>
                    <a:pt x="-896" y="345445"/>
                    <a:pt x="2688" y="339284"/>
                  </a:cubicBezTo>
                  <a:lnTo>
                    <a:pt x="194292" y="9966"/>
                  </a:lnTo>
                  <a:cubicBezTo>
                    <a:pt x="197882" y="3796"/>
                    <a:pt x="204481" y="0"/>
                    <a:pt x="211620" y="0"/>
                  </a:cubicBezTo>
                  <a:lnTo>
                    <a:pt x="594960" y="0"/>
                  </a:lnTo>
                  <a:cubicBezTo>
                    <a:pt x="602099" y="0"/>
                    <a:pt x="608698" y="3796"/>
                    <a:pt x="612288" y="9966"/>
                  </a:cubicBezTo>
                  <a:lnTo>
                    <a:pt x="803892" y="339284"/>
                  </a:lnTo>
                  <a:cubicBezTo>
                    <a:pt x="807476" y="345445"/>
                    <a:pt x="807476" y="353055"/>
                    <a:pt x="803892" y="359216"/>
                  </a:cubicBezTo>
                  <a:close/>
                </a:path>
              </a:pathLst>
            </a:custGeom>
            <a:blipFill>
              <a:blip r:embed="rId6"/>
              <a:stretch>
                <a:fillRect l="-69948" t="0" r="-8302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3964040" y="8561237"/>
            <a:ext cx="6424647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Ofertas personalizadas e incremento en la respuesta de todos los productos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12634" y="8172618"/>
            <a:ext cx="8304726" cy="4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B6E4F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RESULTADO: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-258322" y="-3803353"/>
            <a:ext cx="7273934" cy="7875811"/>
          </a:xfrm>
          <a:custGeom>
            <a:avLst/>
            <a:gdLst/>
            <a:ahLst/>
            <a:cxnLst/>
            <a:rect r="r" b="b" t="t" l="l"/>
            <a:pathLst>
              <a:path h="7875811" w="7273934">
                <a:moveTo>
                  <a:pt x="0" y="7875810"/>
                </a:moveTo>
                <a:lnTo>
                  <a:pt x="7273934" y="7875810"/>
                </a:lnTo>
                <a:lnTo>
                  <a:pt x="7273934" y="0"/>
                </a:lnTo>
                <a:lnTo>
                  <a:pt x="0" y="0"/>
                </a:lnTo>
                <a:lnTo>
                  <a:pt x="0" y="787581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0468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25272" y="2440247"/>
            <a:ext cx="8737020" cy="1590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 b="true">
                <a:solidFill>
                  <a:srgbClr val="509FC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Mejorar score de clientes sin experiencia crediticia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12261" y="1440757"/>
            <a:ext cx="4113493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D9EAF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Score card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9316262">
            <a:off x="-2398717" y="4071204"/>
            <a:ext cx="7273934" cy="7875811"/>
          </a:xfrm>
          <a:custGeom>
            <a:avLst/>
            <a:gdLst/>
            <a:ahLst/>
            <a:cxnLst/>
            <a:rect r="r" b="b" t="t" l="l"/>
            <a:pathLst>
              <a:path h="7875811" w="7273934">
                <a:moveTo>
                  <a:pt x="0" y="7875811"/>
                </a:moveTo>
                <a:lnTo>
                  <a:pt x="7273934" y="7875811"/>
                </a:lnTo>
                <a:lnTo>
                  <a:pt x="7273934" y="0"/>
                </a:lnTo>
                <a:lnTo>
                  <a:pt x="0" y="0"/>
                </a:lnTo>
                <a:lnTo>
                  <a:pt x="0" y="787581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0468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107976" y="-961713"/>
            <a:ext cx="11015521" cy="9466463"/>
            <a:chOff x="0" y="0"/>
            <a:chExt cx="812800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844" y="0"/>
              <a:ext cx="807113" cy="698500"/>
            </a:xfrm>
            <a:custGeom>
              <a:avLst/>
              <a:gdLst/>
              <a:ahLst/>
              <a:cxnLst/>
              <a:rect r="r" b="b" t="t" l="l"/>
              <a:pathLst>
                <a:path h="698500" w="807113">
                  <a:moveTo>
                    <a:pt x="804654" y="358362"/>
                  </a:moveTo>
                  <a:lnTo>
                    <a:pt x="612058" y="689388"/>
                  </a:lnTo>
                  <a:cubicBezTo>
                    <a:pt x="608775" y="695029"/>
                    <a:pt x="602741" y="698500"/>
                    <a:pt x="596214" y="698500"/>
                  </a:cubicBezTo>
                  <a:lnTo>
                    <a:pt x="210898" y="698500"/>
                  </a:lnTo>
                  <a:cubicBezTo>
                    <a:pt x="204371" y="698500"/>
                    <a:pt x="198337" y="695029"/>
                    <a:pt x="195054" y="689388"/>
                  </a:cubicBezTo>
                  <a:lnTo>
                    <a:pt x="2458" y="358362"/>
                  </a:lnTo>
                  <a:cubicBezTo>
                    <a:pt x="-820" y="352729"/>
                    <a:pt x="-820" y="345771"/>
                    <a:pt x="2458" y="340138"/>
                  </a:cubicBezTo>
                  <a:lnTo>
                    <a:pt x="195054" y="9112"/>
                  </a:lnTo>
                  <a:cubicBezTo>
                    <a:pt x="198337" y="3471"/>
                    <a:pt x="204371" y="0"/>
                    <a:pt x="210898" y="0"/>
                  </a:cubicBezTo>
                  <a:lnTo>
                    <a:pt x="596214" y="0"/>
                  </a:lnTo>
                  <a:cubicBezTo>
                    <a:pt x="602741" y="0"/>
                    <a:pt x="608775" y="3471"/>
                    <a:pt x="612058" y="9112"/>
                  </a:cubicBezTo>
                  <a:lnTo>
                    <a:pt x="804654" y="340138"/>
                  </a:lnTo>
                  <a:cubicBezTo>
                    <a:pt x="807932" y="345771"/>
                    <a:pt x="807932" y="352729"/>
                    <a:pt x="804654" y="358362"/>
                  </a:cubicBezTo>
                  <a:close/>
                </a:path>
              </a:pathLst>
            </a:custGeom>
            <a:blipFill>
              <a:blip r:embed="rId4"/>
              <a:stretch>
                <a:fillRect l="-22787" t="0" r="-7027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357327" y="4172128"/>
            <a:ext cx="6527605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Uso de data no tradicional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Sample design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Score universal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1713" y="9570961"/>
            <a:ext cx="17206287" cy="559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Global Finance. (2025, Month Day). Press release: Global Finance presents the inaugural AI in Finance Awards and names the AI in Consumer Banking honorees for 2025 [Press release]. Global Finance Magazine. https://gfmag.com/award/winner-announcements/press-release-global-finance-presents-the-inaugural-ai-in-finance-awards-and-names-the-ai-in-consumer-banking-honorees-for-2025/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-258322" y="-3803353"/>
            <a:ext cx="7273934" cy="7875811"/>
          </a:xfrm>
          <a:custGeom>
            <a:avLst/>
            <a:gdLst/>
            <a:ahLst/>
            <a:cxnLst/>
            <a:rect r="r" b="b" t="t" l="l"/>
            <a:pathLst>
              <a:path h="7875811" w="7273934">
                <a:moveTo>
                  <a:pt x="0" y="7875810"/>
                </a:moveTo>
                <a:lnTo>
                  <a:pt x="7273934" y="7875810"/>
                </a:lnTo>
                <a:lnTo>
                  <a:pt x="7273934" y="0"/>
                </a:lnTo>
                <a:lnTo>
                  <a:pt x="0" y="0"/>
                </a:lnTo>
                <a:lnTo>
                  <a:pt x="0" y="787581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0468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25272" y="2440247"/>
            <a:ext cx="8737020" cy="1590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 b="true">
                <a:solidFill>
                  <a:srgbClr val="509FC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Mejorar score de clientes sin experiencia crediticia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12261" y="1440757"/>
            <a:ext cx="4113493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D9EAF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Score card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9316262">
            <a:off x="-2398717" y="4071204"/>
            <a:ext cx="7273934" cy="7875811"/>
          </a:xfrm>
          <a:custGeom>
            <a:avLst/>
            <a:gdLst/>
            <a:ahLst/>
            <a:cxnLst/>
            <a:rect r="r" b="b" t="t" l="l"/>
            <a:pathLst>
              <a:path h="7875811" w="7273934">
                <a:moveTo>
                  <a:pt x="0" y="7875811"/>
                </a:moveTo>
                <a:lnTo>
                  <a:pt x="7273934" y="7875811"/>
                </a:lnTo>
                <a:lnTo>
                  <a:pt x="7273934" y="0"/>
                </a:lnTo>
                <a:lnTo>
                  <a:pt x="0" y="0"/>
                </a:lnTo>
                <a:lnTo>
                  <a:pt x="0" y="787581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0468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107976" y="-961713"/>
            <a:ext cx="11015521" cy="9466463"/>
            <a:chOff x="0" y="0"/>
            <a:chExt cx="812800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844" y="0"/>
              <a:ext cx="807113" cy="698500"/>
            </a:xfrm>
            <a:custGeom>
              <a:avLst/>
              <a:gdLst/>
              <a:ahLst/>
              <a:cxnLst/>
              <a:rect r="r" b="b" t="t" l="l"/>
              <a:pathLst>
                <a:path h="698500" w="807113">
                  <a:moveTo>
                    <a:pt x="804654" y="358362"/>
                  </a:moveTo>
                  <a:lnTo>
                    <a:pt x="612058" y="689388"/>
                  </a:lnTo>
                  <a:cubicBezTo>
                    <a:pt x="608775" y="695029"/>
                    <a:pt x="602741" y="698500"/>
                    <a:pt x="596214" y="698500"/>
                  </a:cubicBezTo>
                  <a:lnTo>
                    <a:pt x="210898" y="698500"/>
                  </a:lnTo>
                  <a:cubicBezTo>
                    <a:pt x="204371" y="698500"/>
                    <a:pt x="198337" y="695029"/>
                    <a:pt x="195054" y="689388"/>
                  </a:cubicBezTo>
                  <a:lnTo>
                    <a:pt x="2458" y="358362"/>
                  </a:lnTo>
                  <a:cubicBezTo>
                    <a:pt x="-820" y="352729"/>
                    <a:pt x="-820" y="345771"/>
                    <a:pt x="2458" y="340138"/>
                  </a:cubicBezTo>
                  <a:lnTo>
                    <a:pt x="195054" y="9112"/>
                  </a:lnTo>
                  <a:cubicBezTo>
                    <a:pt x="198337" y="3471"/>
                    <a:pt x="204371" y="0"/>
                    <a:pt x="210898" y="0"/>
                  </a:cubicBezTo>
                  <a:lnTo>
                    <a:pt x="596214" y="0"/>
                  </a:lnTo>
                  <a:cubicBezTo>
                    <a:pt x="602741" y="0"/>
                    <a:pt x="608775" y="3471"/>
                    <a:pt x="612058" y="9112"/>
                  </a:cubicBezTo>
                  <a:lnTo>
                    <a:pt x="804654" y="340138"/>
                  </a:lnTo>
                  <a:cubicBezTo>
                    <a:pt x="807932" y="345771"/>
                    <a:pt x="807932" y="352729"/>
                    <a:pt x="804654" y="358362"/>
                  </a:cubicBezTo>
                  <a:close/>
                </a:path>
              </a:pathLst>
            </a:custGeom>
            <a:blipFill>
              <a:blip r:embed="rId4"/>
              <a:stretch>
                <a:fillRect l="-22787" t="0" r="-7027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357327" y="4172128"/>
            <a:ext cx="6527605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Uso de data no tradicional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Sample design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Score universal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79326" y="7046687"/>
            <a:ext cx="7729347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Incremento del tarjetas aprobadas manteniendo el mismo riesgo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78645" y="6658068"/>
            <a:ext cx="8304726" cy="4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B6E4F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RESULTADO: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1713" y="9570961"/>
            <a:ext cx="17206287" cy="559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Global Finance. (2025, Month Day). Press release: Global Finance presents the inaugural AI in Finance Awards and names the AI in Consumer Banking honorees for 2025 [Press release]. Global Finance Magazine. https://gfmag.com/award/winner-announcements/press-release-global-finance-presents-the-inaugural-ai-in-finance-awards-and-names-the-ai-in-consumer-banking-honorees-for-2025/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00696" y="-7507212"/>
            <a:ext cx="10696161" cy="10174724"/>
          </a:xfrm>
          <a:custGeom>
            <a:avLst/>
            <a:gdLst/>
            <a:ahLst/>
            <a:cxnLst/>
            <a:rect r="r" b="b" t="t" l="l"/>
            <a:pathLst>
              <a:path h="10174724" w="10696161">
                <a:moveTo>
                  <a:pt x="0" y="0"/>
                </a:moveTo>
                <a:lnTo>
                  <a:pt x="10696162" y="0"/>
                </a:lnTo>
                <a:lnTo>
                  <a:pt x="10696162" y="10174724"/>
                </a:lnTo>
                <a:lnTo>
                  <a:pt x="0" y="10174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3927556" y="5143500"/>
            <a:ext cx="24228392" cy="8121818"/>
          </a:xfrm>
          <a:custGeom>
            <a:avLst/>
            <a:gdLst/>
            <a:ahLst/>
            <a:cxnLst/>
            <a:rect r="r" b="b" t="t" l="l"/>
            <a:pathLst>
              <a:path h="8121818" w="24228392">
                <a:moveTo>
                  <a:pt x="0" y="0"/>
                </a:moveTo>
                <a:lnTo>
                  <a:pt x="24228392" y="0"/>
                </a:lnTo>
                <a:lnTo>
                  <a:pt x="24228392" y="8121818"/>
                </a:lnTo>
                <a:lnTo>
                  <a:pt x="0" y="81218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6918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7432480" y="1212925"/>
            <a:ext cx="3218150" cy="8045375"/>
            <a:chOff x="0" y="0"/>
            <a:chExt cx="254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4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2540000">
                  <a:moveTo>
                    <a:pt x="1778000" y="6350000"/>
                  </a:moveTo>
                  <a:lnTo>
                    <a:pt x="762000" y="6350000"/>
                  </a:lnTo>
                  <a:cubicBezTo>
                    <a:pt x="341630" y="6350000"/>
                    <a:pt x="0" y="6008370"/>
                    <a:pt x="0" y="5588000"/>
                  </a:cubicBezTo>
                  <a:lnTo>
                    <a:pt x="0" y="762000"/>
                  </a:lnTo>
                  <a:cubicBezTo>
                    <a:pt x="0" y="341630"/>
                    <a:pt x="341630" y="0"/>
                    <a:pt x="762000" y="0"/>
                  </a:cubicBezTo>
                  <a:lnTo>
                    <a:pt x="1778000" y="0"/>
                  </a:lnTo>
                  <a:cubicBezTo>
                    <a:pt x="2198370" y="0"/>
                    <a:pt x="2540000" y="341630"/>
                    <a:pt x="2540000" y="762000"/>
                  </a:cubicBezTo>
                  <a:lnTo>
                    <a:pt x="2540000" y="5588000"/>
                  </a:lnTo>
                  <a:cubicBezTo>
                    <a:pt x="2540000" y="6008370"/>
                    <a:pt x="2198370" y="6350000"/>
                    <a:pt x="17780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33281" t="0" r="-33281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4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2540000">
                  <a:moveTo>
                    <a:pt x="1778000" y="19050"/>
                  </a:moveTo>
                  <a:cubicBezTo>
                    <a:pt x="2188210" y="19050"/>
                    <a:pt x="2520950" y="351790"/>
                    <a:pt x="2520950" y="762000"/>
                  </a:cubicBezTo>
                  <a:lnTo>
                    <a:pt x="2520950" y="5588000"/>
                  </a:lnTo>
                  <a:cubicBezTo>
                    <a:pt x="2520950" y="5998210"/>
                    <a:pt x="2188210" y="6330950"/>
                    <a:pt x="1778000" y="6330950"/>
                  </a:cubicBezTo>
                  <a:lnTo>
                    <a:pt x="762000" y="6330950"/>
                  </a:lnTo>
                  <a:cubicBezTo>
                    <a:pt x="351790" y="6330950"/>
                    <a:pt x="19050" y="5998210"/>
                    <a:pt x="19050" y="5588000"/>
                  </a:cubicBezTo>
                  <a:lnTo>
                    <a:pt x="19050" y="762000"/>
                  </a:lnTo>
                  <a:cubicBezTo>
                    <a:pt x="19050" y="351790"/>
                    <a:pt x="351790" y="19050"/>
                    <a:pt x="762000" y="19050"/>
                  </a:cubicBezTo>
                  <a:lnTo>
                    <a:pt x="1778000" y="19050"/>
                  </a:lnTo>
                  <a:moveTo>
                    <a:pt x="1778000" y="0"/>
                  </a:moveTo>
                  <a:lnTo>
                    <a:pt x="762000" y="0"/>
                  </a:lnTo>
                  <a:cubicBezTo>
                    <a:pt x="341630" y="0"/>
                    <a:pt x="0" y="341630"/>
                    <a:pt x="0" y="762000"/>
                  </a:cubicBezTo>
                  <a:lnTo>
                    <a:pt x="0" y="5588000"/>
                  </a:lnTo>
                  <a:cubicBezTo>
                    <a:pt x="0" y="6008370"/>
                    <a:pt x="341630" y="6350000"/>
                    <a:pt x="762000" y="6350000"/>
                  </a:cubicBezTo>
                  <a:lnTo>
                    <a:pt x="1778000" y="6350000"/>
                  </a:lnTo>
                  <a:cubicBezTo>
                    <a:pt x="2198370" y="6350000"/>
                    <a:pt x="2540000" y="6008370"/>
                    <a:pt x="2540000" y="5588000"/>
                  </a:cubicBezTo>
                  <a:lnTo>
                    <a:pt x="2540000" y="762000"/>
                  </a:lnTo>
                  <a:cubicBezTo>
                    <a:pt x="2540000" y="341630"/>
                    <a:pt x="2198370" y="0"/>
                    <a:pt x="1778000" y="0"/>
                  </a:cubicBezTo>
                  <a:lnTo>
                    <a:pt x="1778000" y="0"/>
                  </a:lnTo>
                  <a:close/>
                </a:path>
              </a:pathLst>
            </a:custGeom>
            <a:solidFill>
              <a:srgbClr val="2B6993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0881030" y="1212925"/>
            <a:ext cx="3218150" cy="8045375"/>
            <a:chOff x="0" y="0"/>
            <a:chExt cx="254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2540000">
                  <a:moveTo>
                    <a:pt x="1778000" y="6350000"/>
                  </a:moveTo>
                  <a:lnTo>
                    <a:pt x="762000" y="6350000"/>
                  </a:lnTo>
                  <a:cubicBezTo>
                    <a:pt x="341630" y="6350000"/>
                    <a:pt x="0" y="6008370"/>
                    <a:pt x="0" y="5588000"/>
                  </a:cubicBezTo>
                  <a:lnTo>
                    <a:pt x="0" y="762000"/>
                  </a:lnTo>
                  <a:cubicBezTo>
                    <a:pt x="0" y="341630"/>
                    <a:pt x="341630" y="0"/>
                    <a:pt x="762000" y="0"/>
                  </a:cubicBezTo>
                  <a:lnTo>
                    <a:pt x="1778000" y="0"/>
                  </a:lnTo>
                  <a:cubicBezTo>
                    <a:pt x="2198370" y="0"/>
                    <a:pt x="2540000" y="341630"/>
                    <a:pt x="2540000" y="762000"/>
                  </a:cubicBezTo>
                  <a:lnTo>
                    <a:pt x="2540000" y="5588000"/>
                  </a:lnTo>
                  <a:cubicBezTo>
                    <a:pt x="2540000" y="6008370"/>
                    <a:pt x="2198370" y="6350000"/>
                    <a:pt x="1778000" y="6350000"/>
                  </a:cubicBezTo>
                  <a:close/>
                </a:path>
              </a:pathLst>
            </a:custGeom>
            <a:blipFill>
              <a:blip r:embed="rId7"/>
              <a:stretch>
                <a:fillRect l="-54977" t="0" r="-220257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4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2540000">
                  <a:moveTo>
                    <a:pt x="1778000" y="19050"/>
                  </a:moveTo>
                  <a:cubicBezTo>
                    <a:pt x="2188210" y="19050"/>
                    <a:pt x="2520950" y="351790"/>
                    <a:pt x="2520950" y="762000"/>
                  </a:cubicBezTo>
                  <a:lnTo>
                    <a:pt x="2520950" y="5588000"/>
                  </a:lnTo>
                  <a:cubicBezTo>
                    <a:pt x="2520950" y="5998210"/>
                    <a:pt x="2188210" y="6330950"/>
                    <a:pt x="1778000" y="6330950"/>
                  </a:cubicBezTo>
                  <a:lnTo>
                    <a:pt x="762000" y="6330950"/>
                  </a:lnTo>
                  <a:cubicBezTo>
                    <a:pt x="351790" y="6330950"/>
                    <a:pt x="19050" y="5998210"/>
                    <a:pt x="19050" y="5588000"/>
                  </a:cubicBezTo>
                  <a:lnTo>
                    <a:pt x="19050" y="762000"/>
                  </a:lnTo>
                  <a:cubicBezTo>
                    <a:pt x="19050" y="351790"/>
                    <a:pt x="351790" y="19050"/>
                    <a:pt x="762000" y="19050"/>
                  </a:cubicBezTo>
                  <a:lnTo>
                    <a:pt x="1778000" y="19050"/>
                  </a:lnTo>
                  <a:moveTo>
                    <a:pt x="1778000" y="0"/>
                  </a:moveTo>
                  <a:lnTo>
                    <a:pt x="762000" y="0"/>
                  </a:lnTo>
                  <a:cubicBezTo>
                    <a:pt x="341630" y="0"/>
                    <a:pt x="0" y="341630"/>
                    <a:pt x="0" y="762000"/>
                  </a:cubicBezTo>
                  <a:lnTo>
                    <a:pt x="0" y="5588000"/>
                  </a:lnTo>
                  <a:cubicBezTo>
                    <a:pt x="0" y="6008370"/>
                    <a:pt x="341630" y="6350000"/>
                    <a:pt x="762000" y="6350000"/>
                  </a:cubicBezTo>
                  <a:lnTo>
                    <a:pt x="1778000" y="6350000"/>
                  </a:lnTo>
                  <a:cubicBezTo>
                    <a:pt x="2198370" y="6350000"/>
                    <a:pt x="2540000" y="6008370"/>
                    <a:pt x="2540000" y="5588000"/>
                  </a:cubicBezTo>
                  <a:lnTo>
                    <a:pt x="2540000" y="762000"/>
                  </a:lnTo>
                  <a:cubicBezTo>
                    <a:pt x="2540000" y="341630"/>
                    <a:pt x="2198370" y="0"/>
                    <a:pt x="1778000" y="0"/>
                  </a:cubicBezTo>
                  <a:lnTo>
                    <a:pt x="1778000" y="0"/>
                  </a:lnTo>
                  <a:close/>
                </a:path>
              </a:pathLst>
            </a:custGeom>
            <a:solidFill>
              <a:srgbClr val="2B6993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4327780" y="1212925"/>
            <a:ext cx="3218150" cy="8045375"/>
            <a:chOff x="0" y="0"/>
            <a:chExt cx="254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4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2540000">
                  <a:moveTo>
                    <a:pt x="1778000" y="6350000"/>
                  </a:moveTo>
                  <a:lnTo>
                    <a:pt x="762000" y="6350000"/>
                  </a:lnTo>
                  <a:cubicBezTo>
                    <a:pt x="341630" y="6350000"/>
                    <a:pt x="0" y="6008370"/>
                    <a:pt x="0" y="5588000"/>
                  </a:cubicBezTo>
                  <a:lnTo>
                    <a:pt x="0" y="762000"/>
                  </a:lnTo>
                  <a:cubicBezTo>
                    <a:pt x="0" y="341630"/>
                    <a:pt x="341630" y="0"/>
                    <a:pt x="762000" y="0"/>
                  </a:cubicBezTo>
                  <a:lnTo>
                    <a:pt x="1778000" y="0"/>
                  </a:lnTo>
                  <a:cubicBezTo>
                    <a:pt x="2198370" y="0"/>
                    <a:pt x="2540000" y="341630"/>
                    <a:pt x="2540000" y="762000"/>
                  </a:cubicBezTo>
                  <a:lnTo>
                    <a:pt x="2540000" y="5588000"/>
                  </a:lnTo>
                  <a:cubicBezTo>
                    <a:pt x="2540000" y="6008370"/>
                    <a:pt x="2198370" y="6350000"/>
                    <a:pt x="17780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209916" t="0" r="-64615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4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2540000">
                  <a:moveTo>
                    <a:pt x="1778000" y="19050"/>
                  </a:moveTo>
                  <a:cubicBezTo>
                    <a:pt x="2188210" y="19050"/>
                    <a:pt x="2520950" y="351790"/>
                    <a:pt x="2520950" y="762000"/>
                  </a:cubicBezTo>
                  <a:lnTo>
                    <a:pt x="2520950" y="5588000"/>
                  </a:lnTo>
                  <a:cubicBezTo>
                    <a:pt x="2520950" y="5998210"/>
                    <a:pt x="2188210" y="6330950"/>
                    <a:pt x="1778000" y="6330950"/>
                  </a:cubicBezTo>
                  <a:lnTo>
                    <a:pt x="762000" y="6330950"/>
                  </a:lnTo>
                  <a:cubicBezTo>
                    <a:pt x="351790" y="6330950"/>
                    <a:pt x="19050" y="5998210"/>
                    <a:pt x="19050" y="5588000"/>
                  </a:cubicBezTo>
                  <a:lnTo>
                    <a:pt x="19050" y="762000"/>
                  </a:lnTo>
                  <a:cubicBezTo>
                    <a:pt x="19050" y="351790"/>
                    <a:pt x="351790" y="19050"/>
                    <a:pt x="762000" y="19050"/>
                  </a:cubicBezTo>
                  <a:lnTo>
                    <a:pt x="1778000" y="19050"/>
                  </a:lnTo>
                  <a:moveTo>
                    <a:pt x="1778000" y="0"/>
                  </a:moveTo>
                  <a:lnTo>
                    <a:pt x="762000" y="0"/>
                  </a:lnTo>
                  <a:cubicBezTo>
                    <a:pt x="341630" y="0"/>
                    <a:pt x="0" y="341630"/>
                    <a:pt x="0" y="762000"/>
                  </a:cubicBezTo>
                  <a:lnTo>
                    <a:pt x="0" y="5588000"/>
                  </a:lnTo>
                  <a:cubicBezTo>
                    <a:pt x="0" y="6008370"/>
                    <a:pt x="341630" y="6350000"/>
                    <a:pt x="762000" y="6350000"/>
                  </a:cubicBezTo>
                  <a:lnTo>
                    <a:pt x="1778000" y="6350000"/>
                  </a:lnTo>
                  <a:cubicBezTo>
                    <a:pt x="2198370" y="6350000"/>
                    <a:pt x="2540000" y="6008370"/>
                    <a:pt x="2540000" y="5588000"/>
                  </a:cubicBezTo>
                  <a:lnTo>
                    <a:pt x="2540000" y="762000"/>
                  </a:lnTo>
                  <a:cubicBezTo>
                    <a:pt x="2540000" y="341630"/>
                    <a:pt x="2198370" y="0"/>
                    <a:pt x="1778000" y="0"/>
                  </a:cubicBezTo>
                  <a:lnTo>
                    <a:pt x="1778000" y="0"/>
                  </a:lnTo>
                  <a:close/>
                </a:path>
              </a:pathLst>
            </a:custGeom>
            <a:solidFill>
              <a:srgbClr val="2B6993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04875" y="3774765"/>
            <a:ext cx="7987078" cy="76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 b="true">
                <a:solidFill>
                  <a:srgbClr val="509FC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More data beats better math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4875" y="2765750"/>
            <a:ext cx="5491880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D9EAF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Data modular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04875" y="5340275"/>
            <a:ext cx="6527605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App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Customer behaviore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Historical payments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Product holding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etc.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11219" y="-4191951"/>
            <a:ext cx="10696161" cy="10174724"/>
          </a:xfrm>
          <a:custGeom>
            <a:avLst/>
            <a:gdLst/>
            <a:ahLst/>
            <a:cxnLst/>
            <a:rect r="r" b="b" t="t" l="l"/>
            <a:pathLst>
              <a:path h="10174724" w="10696161">
                <a:moveTo>
                  <a:pt x="0" y="0"/>
                </a:moveTo>
                <a:lnTo>
                  <a:pt x="10696162" y="0"/>
                </a:lnTo>
                <a:lnTo>
                  <a:pt x="10696162" y="10174724"/>
                </a:lnTo>
                <a:lnTo>
                  <a:pt x="0" y="10174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803574">
            <a:off x="-3009583" y="4548552"/>
            <a:ext cx="8106264" cy="8524787"/>
          </a:xfrm>
          <a:custGeom>
            <a:avLst/>
            <a:gdLst/>
            <a:ahLst/>
            <a:cxnLst/>
            <a:rect r="r" b="b" t="t" l="l"/>
            <a:pathLst>
              <a:path h="8524787" w="8106264">
                <a:moveTo>
                  <a:pt x="0" y="0"/>
                </a:moveTo>
                <a:lnTo>
                  <a:pt x="8106264" y="0"/>
                </a:lnTo>
                <a:lnTo>
                  <a:pt x="8106264" y="8524786"/>
                </a:lnTo>
                <a:lnTo>
                  <a:pt x="0" y="8524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446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506033">
            <a:off x="14234868" y="4995907"/>
            <a:ext cx="8106264" cy="8524787"/>
          </a:xfrm>
          <a:custGeom>
            <a:avLst/>
            <a:gdLst/>
            <a:ahLst/>
            <a:cxnLst/>
            <a:rect r="r" b="b" t="t" l="l"/>
            <a:pathLst>
              <a:path h="8524787" w="8106264">
                <a:moveTo>
                  <a:pt x="0" y="0"/>
                </a:moveTo>
                <a:lnTo>
                  <a:pt x="8106264" y="0"/>
                </a:lnTo>
                <a:lnTo>
                  <a:pt x="8106264" y="8524786"/>
                </a:lnTo>
                <a:lnTo>
                  <a:pt x="0" y="8524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4462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23757" y="2520819"/>
            <a:ext cx="8386834" cy="6290126"/>
          </a:xfrm>
          <a:custGeom>
            <a:avLst/>
            <a:gdLst/>
            <a:ahLst/>
            <a:cxnLst/>
            <a:rect r="r" b="b" t="t" l="l"/>
            <a:pathLst>
              <a:path h="6290126" w="8386834">
                <a:moveTo>
                  <a:pt x="0" y="0"/>
                </a:moveTo>
                <a:lnTo>
                  <a:pt x="8386834" y="0"/>
                </a:lnTo>
                <a:lnTo>
                  <a:pt x="8386834" y="6290126"/>
                </a:lnTo>
                <a:lnTo>
                  <a:pt x="0" y="62901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2079" y="1171421"/>
            <a:ext cx="11065082" cy="83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4800" b="true">
                <a:solidFill>
                  <a:srgbClr val="D9EAF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Meta-Learning:  Analogy with the evolution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35073" y="8917351"/>
            <a:ext cx="13424227" cy="1026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397" indent="-210698" lvl="1">
              <a:lnSpc>
                <a:spcPts val="2732"/>
              </a:lnSpc>
              <a:buAutoNum type="arabicPeriod" startAt="1"/>
            </a:pPr>
            <a:r>
              <a:rPr lang="en-US" b="true" sz="1951">
                <a:solidFill>
                  <a:srgbClr val="509FC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Josua Bengio: https://bengio.abracadoudou.com/publications/pdf/bengio_1991_ijcnn.pdf</a:t>
            </a:r>
          </a:p>
          <a:p>
            <a:pPr algn="l" marL="421397" indent="-210698" lvl="1">
              <a:lnSpc>
                <a:spcPts val="2732"/>
              </a:lnSpc>
              <a:buAutoNum type="arabicPeriod" startAt="1"/>
            </a:pPr>
            <a:r>
              <a:rPr lang="en-US" b="true" sz="1951">
                <a:solidFill>
                  <a:srgbClr val="509FC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Universidad Juárez del Estado de Durango (UJED). (2024). Memorias del 57 Congreso Nacional de la Sociedad Matemática Mexicana. Sociedad Matemática Mexicana. </a:t>
            </a:r>
            <a:r>
              <a:rPr lang="en-US" b="true" sz="1951" u="sng">
                <a:solidFill>
                  <a:srgbClr val="509FC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  <a:hlinkClick r:id="rId7" tooltip="https://www.smm.org.mx/57cnsmm/files/Congreso57UJED16.pdf"/>
              </a:rPr>
              <a:t>https://www.smm.org.mx/57cnsmm/files/Congreso57UJED16.pdf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-258322" y="-3803353"/>
            <a:ext cx="7273934" cy="7875811"/>
          </a:xfrm>
          <a:custGeom>
            <a:avLst/>
            <a:gdLst/>
            <a:ahLst/>
            <a:cxnLst/>
            <a:rect r="r" b="b" t="t" l="l"/>
            <a:pathLst>
              <a:path h="7875811" w="7273934">
                <a:moveTo>
                  <a:pt x="0" y="7875810"/>
                </a:moveTo>
                <a:lnTo>
                  <a:pt x="7273934" y="7875810"/>
                </a:lnTo>
                <a:lnTo>
                  <a:pt x="7273934" y="0"/>
                </a:lnTo>
                <a:lnTo>
                  <a:pt x="0" y="0"/>
                </a:lnTo>
                <a:lnTo>
                  <a:pt x="0" y="787581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0468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25272" y="2440247"/>
            <a:ext cx="8737020" cy="790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 b="true">
                <a:solidFill>
                  <a:srgbClr val="509FC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Payroll model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12261" y="1440757"/>
            <a:ext cx="4113493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D9EAF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Camelot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9316262">
            <a:off x="-2398717" y="4071204"/>
            <a:ext cx="7273934" cy="7875811"/>
          </a:xfrm>
          <a:custGeom>
            <a:avLst/>
            <a:gdLst/>
            <a:ahLst/>
            <a:cxnLst/>
            <a:rect r="r" b="b" t="t" l="l"/>
            <a:pathLst>
              <a:path h="7875811" w="7273934">
                <a:moveTo>
                  <a:pt x="0" y="7875811"/>
                </a:moveTo>
                <a:lnTo>
                  <a:pt x="7273934" y="7875811"/>
                </a:lnTo>
                <a:lnTo>
                  <a:pt x="7273934" y="0"/>
                </a:lnTo>
                <a:lnTo>
                  <a:pt x="0" y="0"/>
                </a:lnTo>
                <a:lnTo>
                  <a:pt x="0" y="787581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0468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107976" y="-961713"/>
            <a:ext cx="11015521" cy="9466463"/>
            <a:chOff x="0" y="0"/>
            <a:chExt cx="812800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844" y="0"/>
              <a:ext cx="807113" cy="698500"/>
            </a:xfrm>
            <a:custGeom>
              <a:avLst/>
              <a:gdLst/>
              <a:ahLst/>
              <a:cxnLst/>
              <a:rect r="r" b="b" t="t" l="l"/>
              <a:pathLst>
                <a:path h="698500" w="807113">
                  <a:moveTo>
                    <a:pt x="804654" y="358362"/>
                  </a:moveTo>
                  <a:lnTo>
                    <a:pt x="612058" y="689388"/>
                  </a:lnTo>
                  <a:cubicBezTo>
                    <a:pt x="608775" y="695029"/>
                    <a:pt x="602741" y="698500"/>
                    <a:pt x="596214" y="698500"/>
                  </a:cubicBezTo>
                  <a:lnTo>
                    <a:pt x="210898" y="698500"/>
                  </a:lnTo>
                  <a:cubicBezTo>
                    <a:pt x="204371" y="698500"/>
                    <a:pt x="198337" y="695029"/>
                    <a:pt x="195054" y="689388"/>
                  </a:cubicBezTo>
                  <a:lnTo>
                    <a:pt x="2458" y="358362"/>
                  </a:lnTo>
                  <a:cubicBezTo>
                    <a:pt x="-820" y="352729"/>
                    <a:pt x="-820" y="345771"/>
                    <a:pt x="2458" y="340138"/>
                  </a:cubicBezTo>
                  <a:lnTo>
                    <a:pt x="195054" y="9112"/>
                  </a:lnTo>
                  <a:cubicBezTo>
                    <a:pt x="198337" y="3471"/>
                    <a:pt x="204371" y="0"/>
                    <a:pt x="210898" y="0"/>
                  </a:cubicBezTo>
                  <a:lnTo>
                    <a:pt x="596214" y="0"/>
                  </a:lnTo>
                  <a:cubicBezTo>
                    <a:pt x="602741" y="0"/>
                    <a:pt x="608775" y="3471"/>
                    <a:pt x="612058" y="9112"/>
                  </a:cubicBezTo>
                  <a:lnTo>
                    <a:pt x="804654" y="340138"/>
                  </a:lnTo>
                  <a:cubicBezTo>
                    <a:pt x="807932" y="345771"/>
                    <a:pt x="807932" y="352729"/>
                    <a:pt x="804654" y="358362"/>
                  </a:cubicBezTo>
                  <a:close/>
                </a:path>
              </a:pathLst>
            </a:custGeom>
            <a:blipFill>
              <a:blip r:embed="rId4"/>
              <a:stretch>
                <a:fillRect l="-26927" t="0" r="-26927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05205" y="3910784"/>
            <a:ext cx="9010379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Citibanamex’s Camelot uses artificial intelligence (AI) to expand access to loans—incorporating a reliable employment-stability prediction into credit decisions grew loan eligibility for the bank by over 30%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10394" y="8666676"/>
            <a:ext cx="13191893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Global Finance. (2022). </a:t>
            </a:r>
            <a:r>
              <a:rPr lang="en-US" sz="26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Innovators 2022 category honorees. Global Finance Magazine. </a:t>
            </a:r>
            <a:r>
              <a:rPr lang="en-US" sz="2600" u="sng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5" tooltip="https://gfmag.com/award/award-winners/innovators-2022-category-honorees/"/>
              </a:rPr>
              <a:t>https://gfmag.com/award/award-winners/innovators-2022-category-honorees/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-258322" y="-3803353"/>
            <a:ext cx="7273934" cy="7875811"/>
          </a:xfrm>
          <a:custGeom>
            <a:avLst/>
            <a:gdLst/>
            <a:ahLst/>
            <a:cxnLst/>
            <a:rect r="r" b="b" t="t" l="l"/>
            <a:pathLst>
              <a:path h="7875811" w="7273934">
                <a:moveTo>
                  <a:pt x="0" y="7875810"/>
                </a:moveTo>
                <a:lnTo>
                  <a:pt x="7273934" y="7875810"/>
                </a:lnTo>
                <a:lnTo>
                  <a:pt x="7273934" y="0"/>
                </a:lnTo>
                <a:lnTo>
                  <a:pt x="0" y="0"/>
                </a:lnTo>
                <a:lnTo>
                  <a:pt x="0" y="787581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0468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9316262">
            <a:off x="-2398717" y="4071204"/>
            <a:ext cx="7273934" cy="7875811"/>
          </a:xfrm>
          <a:custGeom>
            <a:avLst/>
            <a:gdLst/>
            <a:ahLst/>
            <a:cxnLst/>
            <a:rect r="r" b="b" t="t" l="l"/>
            <a:pathLst>
              <a:path h="7875811" w="7273934">
                <a:moveTo>
                  <a:pt x="0" y="7875811"/>
                </a:moveTo>
                <a:lnTo>
                  <a:pt x="7273934" y="7875811"/>
                </a:lnTo>
                <a:lnTo>
                  <a:pt x="7273934" y="0"/>
                </a:lnTo>
                <a:lnTo>
                  <a:pt x="0" y="0"/>
                </a:lnTo>
                <a:lnTo>
                  <a:pt x="0" y="787581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0468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432836" y="-742638"/>
            <a:ext cx="11015521" cy="9466463"/>
            <a:chOff x="0" y="0"/>
            <a:chExt cx="812800" cy="698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844" y="0"/>
              <a:ext cx="807113" cy="698500"/>
            </a:xfrm>
            <a:custGeom>
              <a:avLst/>
              <a:gdLst/>
              <a:ahLst/>
              <a:cxnLst/>
              <a:rect r="r" b="b" t="t" l="l"/>
              <a:pathLst>
                <a:path h="698500" w="807113">
                  <a:moveTo>
                    <a:pt x="804654" y="358362"/>
                  </a:moveTo>
                  <a:lnTo>
                    <a:pt x="612058" y="689388"/>
                  </a:lnTo>
                  <a:cubicBezTo>
                    <a:pt x="608775" y="695029"/>
                    <a:pt x="602741" y="698500"/>
                    <a:pt x="596214" y="698500"/>
                  </a:cubicBezTo>
                  <a:lnTo>
                    <a:pt x="210898" y="698500"/>
                  </a:lnTo>
                  <a:cubicBezTo>
                    <a:pt x="204371" y="698500"/>
                    <a:pt x="198337" y="695029"/>
                    <a:pt x="195054" y="689388"/>
                  </a:cubicBezTo>
                  <a:lnTo>
                    <a:pt x="2458" y="358362"/>
                  </a:lnTo>
                  <a:cubicBezTo>
                    <a:pt x="-820" y="352729"/>
                    <a:pt x="-820" y="345771"/>
                    <a:pt x="2458" y="340138"/>
                  </a:cubicBezTo>
                  <a:lnTo>
                    <a:pt x="195054" y="9112"/>
                  </a:lnTo>
                  <a:cubicBezTo>
                    <a:pt x="198337" y="3471"/>
                    <a:pt x="204371" y="0"/>
                    <a:pt x="210898" y="0"/>
                  </a:cubicBezTo>
                  <a:lnTo>
                    <a:pt x="596214" y="0"/>
                  </a:lnTo>
                  <a:cubicBezTo>
                    <a:pt x="602741" y="0"/>
                    <a:pt x="608775" y="3471"/>
                    <a:pt x="612058" y="9112"/>
                  </a:cubicBezTo>
                  <a:lnTo>
                    <a:pt x="804654" y="340138"/>
                  </a:lnTo>
                  <a:cubicBezTo>
                    <a:pt x="807932" y="345771"/>
                    <a:pt x="807932" y="352729"/>
                    <a:pt x="804654" y="358362"/>
                  </a:cubicBezTo>
                  <a:close/>
                </a:path>
              </a:pathLst>
            </a:custGeom>
            <a:blipFill>
              <a:blip r:embed="rId4"/>
              <a:stretch>
                <a:fillRect l="-26927" t="0" r="-26927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512261" y="1440757"/>
            <a:ext cx="4804289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D9EAF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Turing Score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95427" y="3200019"/>
            <a:ext cx="7137409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IA que cuida tu dinero… ¡en 500 milisegundos! Así funciona Turing Score, nuestra innovación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10394" y="8666676"/>
            <a:ext cx="13191893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Global Finance. (2022). </a:t>
            </a:r>
            <a:r>
              <a:rPr lang="en-US" sz="26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Innovators 2022 category honorees. Global Finance Magazine. </a:t>
            </a:r>
            <a:r>
              <a:rPr lang="en-US" sz="2600" u="sng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5" tooltip="https://gfmag.com/award/award-winners/innovators-2022-category-honorees/"/>
              </a:rPr>
              <a:t>https://gfmag.com/award/award-winners/innovators-2022-category-honorees/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74661" y="-2875072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8" y="0"/>
                </a:lnTo>
                <a:lnTo>
                  <a:pt x="5138678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96297" y="5538592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3"/>
                </a:lnTo>
                <a:lnTo>
                  <a:pt x="0" y="4419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32600" y="8721930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068379" y="5254784"/>
            <a:ext cx="6594514" cy="3125939"/>
            <a:chOff x="0" y="0"/>
            <a:chExt cx="1021663" cy="4842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1663" cy="484290"/>
            </a:xfrm>
            <a:custGeom>
              <a:avLst/>
              <a:gdLst/>
              <a:ahLst/>
              <a:cxnLst/>
              <a:rect r="r" b="b" t="t" l="l"/>
              <a:pathLst>
                <a:path h="484290" w="1021663">
                  <a:moveTo>
                    <a:pt x="65744" y="0"/>
                  </a:moveTo>
                  <a:lnTo>
                    <a:pt x="955919" y="0"/>
                  </a:lnTo>
                  <a:cubicBezTo>
                    <a:pt x="992228" y="0"/>
                    <a:pt x="1021663" y="29434"/>
                    <a:pt x="1021663" y="65744"/>
                  </a:cubicBezTo>
                  <a:lnTo>
                    <a:pt x="1021663" y="418546"/>
                  </a:lnTo>
                  <a:cubicBezTo>
                    <a:pt x="1021663" y="454855"/>
                    <a:pt x="992228" y="484290"/>
                    <a:pt x="955919" y="484290"/>
                  </a:cubicBezTo>
                  <a:lnTo>
                    <a:pt x="65744" y="484290"/>
                  </a:lnTo>
                  <a:cubicBezTo>
                    <a:pt x="29434" y="484290"/>
                    <a:pt x="0" y="454855"/>
                    <a:pt x="0" y="418546"/>
                  </a:cubicBezTo>
                  <a:lnTo>
                    <a:pt x="0" y="65744"/>
                  </a:lnTo>
                  <a:cubicBezTo>
                    <a:pt x="0" y="29434"/>
                    <a:pt x="29434" y="0"/>
                    <a:pt x="6574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1463" r="0" b="-2146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068379" y="1906277"/>
            <a:ext cx="6594514" cy="3125939"/>
            <a:chOff x="0" y="0"/>
            <a:chExt cx="1021663" cy="484290"/>
          </a:xfrm>
        </p:grpSpPr>
        <p:sp>
          <p:nvSpPr>
            <p:cNvPr name="Freeform 8" id="8"/>
            <p:cNvSpPr/>
            <p:nvPr/>
          </p:nvSpPr>
          <p:spPr>
            <a:xfrm flipH="true" flipV="false" rot="0">
              <a:off x="0" y="0"/>
              <a:ext cx="1021663" cy="484290"/>
            </a:xfrm>
            <a:custGeom>
              <a:avLst/>
              <a:gdLst/>
              <a:ahLst/>
              <a:cxnLst/>
              <a:rect r="r" b="b" t="t" l="l"/>
              <a:pathLst>
                <a:path h="484290" w="1021663">
                  <a:moveTo>
                    <a:pt x="955919" y="0"/>
                  </a:moveTo>
                  <a:lnTo>
                    <a:pt x="65744" y="0"/>
                  </a:lnTo>
                  <a:cubicBezTo>
                    <a:pt x="29434" y="0"/>
                    <a:pt x="0" y="29434"/>
                    <a:pt x="0" y="65744"/>
                  </a:cubicBezTo>
                  <a:lnTo>
                    <a:pt x="0" y="418546"/>
                  </a:lnTo>
                  <a:cubicBezTo>
                    <a:pt x="0" y="454855"/>
                    <a:pt x="29434" y="484290"/>
                    <a:pt x="65744" y="484290"/>
                  </a:cubicBezTo>
                  <a:lnTo>
                    <a:pt x="955919" y="484290"/>
                  </a:lnTo>
                  <a:cubicBezTo>
                    <a:pt x="992228" y="484290"/>
                    <a:pt x="1021663" y="454855"/>
                    <a:pt x="1021663" y="418546"/>
                  </a:cubicBezTo>
                  <a:lnTo>
                    <a:pt x="1021663" y="65744"/>
                  </a:lnTo>
                  <a:cubicBezTo>
                    <a:pt x="1021663" y="29434"/>
                    <a:pt x="992228" y="0"/>
                    <a:pt x="955919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9221" r="0" b="-1922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1820552"/>
            <a:ext cx="7187919" cy="83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  <a:spcBef>
                <a:spcPct val="0"/>
              </a:spcBef>
            </a:pPr>
            <a:r>
              <a:rPr lang="en-US" sz="4903" b="true">
                <a:solidFill>
                  <a:srgbClr val="FFFFFF"/>
                </a:solidFill>
                <a:latin typeface="Montaser Arabic Ultra-Bold"/>
                <a:ea typeface="Montaser Arabic Ultra-Bold"/>
                <a:cs typeface="Montaser Arabic Ultra-Bold"/>
                <a:sym typeface="Montaser Arabic Ultra-Bold"/>
              </a:rPr>
              <a:t>El Plan de Juego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688725"/>
            <a:ext cx="7077050" cy="41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7"/>
              </a:lnSpc>
            </a:pPr>
            <a:r>
              <a:rPr lang="en-US" sz="2613" b="true">
                <a:solidFill>
                  <a:srgbClr val="04E1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100 puntos Para Prepararse Desde Hoy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74661" y="-2875072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8" y="0"/>
                </a:lnTo>
                <a:lnTo>
                  <a:pt x="5138678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96297" y="5538592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3"/>
                </a:lnTo>
                <a:lnTo>
                  <a:pt x="0" y="4419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32600" y="8721930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068379" y="5254784"/>
            <a:ext cx="6594514" cy="3125939"/>
            <a:chOff x="0" y="0"/>
            <a:chExt cx="1021663" cy="4842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1663" cy="484290"/>
            </a:xfrm>
            <a:custGeom>
              <a:avLst/>
              <a:gdLst/>
              <a:ahLst/>
              <a:cxnLst/>
              <a:rect r="r" b="b" t="t" l="l"/>
              <a:pathLst>
                <a:path h="484290" w="1021663">
                  <a:moveTo>
                    <a:pt x="65744" y="0"/>
                  </a:moveTo>
                  <a:lnTo>
                    <a:pt x="955919" y="0"/>
                  </a:lnTo>
                  <a:cubicBezTo>
                    <a:pt x="992228" y="0"/>
                    <a:pt x="1021663" y="29434"/>
                    <a:pt x="1021663" y="65744"/>
                  </a:cubicBezTo>
                  <a:lnTo>
                    <a:pt x="1021663" y="418546"/>
                  </a:lnTo>
                  <a:cubicBezTo>
                    <a:pt x="1021663" y="454855"/>
                    <a:pt x="992228" y="484290"/>
                    <a:pt x="955919" y="484290"/>
                  </a:cubicBezTo>
                  <a:lnTo>
                    <a:pt x="65744" y="484290"/>
                  </a:lnTo>
                  <a:cubicBezTo>
                    <a:pt x="29434" y="484290"/>
                    <a:pt x="0" y="454855"/>
                    <a:pt x="0" y="418546"/>
                  </a:cubicBezTo>
                  <a:lnTo>
                    <a:pt x="0" y="65744"/>
                  </a:lnTo>
                  <a:cubicBezTo>
                    <a:pt x="0" y="29434"/>
                    <a:pt x="29434" y="0"/>
                    <a:pt x="6574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1463" r="0" b="-2146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068379" y="1906277"/>
            <a:ext cx="6594514" cy="3125939"/>
            <a:chOff x="0" y="0"/>
            <a:chExt cx="1021663" cy="484290"/>
          </a:xfrm>
        </p:grpSpPr>
        <p:sp>
          <p:nvSpPr>
            <p:cNvPr name="Freeform 8" id="8"/>
            <p:cNvSpPr/>
            <p:nvPr/>
          </p:nvSpPr>
          <p:spPr>
            <a:xfrm flipH="true" flipV="false" rot="0">
              <a:off x="0" y="0"/>
              <a:ext cx="1021663" cy="484290"/>
            </a:xfrm>
            <a:custGeom>
              <a:avLst/>
              <a:gdLst/>
              <a:ahLst/>
              <a:cxnLst/>
              <a:rect r="r" b="b" t="t" l="l"/>
              <a:pathLst>
                <a:path h="484290" w="1021663">
                  <a:moveTo>
                    <a:pt x="955919" y="0"/>
                  </a:moveTo>
                  <a:lnTo>
                    <a:pt x="65744" y="0"/>
                  </a:lnTo>
                  <a:cubicBezTo>
                    <a:pt x="29434" y="0"/>
                    <a:pt x="0" y="29434"/>
                    <a:pt x="0" y="65744"/>
                  </a:cubicBezTo>
                  <a:lnTo>
                    <a:pt x="0" y="418546"/>
                  </a:lnTo>
                  <a:cubicBezTo>
                    <a:pt x="0" y="454855"/>
                    <a:pt x="29434" y="484290"/>
                    <a:pt x="65744" y="484290"/>
                  </a:cubicBezTo>
                  <a:lnTo>
                    <a:pt x="955919" y="484290"/>
                  </a:lnTo>
                  <a:cubicBezTo>
                    <a:pt x="992228" y="484290"/>
                    <a:pt x="1021663" y="454855"/>
                    <a:pt x="1021663" y="418546"/>
                  </a:cubicBezTo>
                  <a:lnTo>
                    <a:pt x="1021663" y="65744"/>
                  </a:lnTo>
                  <a:cubicBezTo>
                    <a:pt x="1021663" y="29434"/>
                    <a:pt x="992228" y="0"/>
                    <a:pt x="955919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9221" r="0" b="-1922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1820552"/>
            <a:ext cx="7187919" cy="83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  <a:spcBef>
                <a:spcPct val="0"/>
              </a:spcBef>
            </a:pPr>
            <a:r>
              <a:rPr lang="en-US" sz="4903" b="true">
                <a:solidFill>
                  <a:srgbClr val="FFFFFF"/>
                </a:solidFill>
                <a:latin typeface="Montaser Arabic Ultra-Bold"/>
                <a:ea typeface="Montaser Arabic Ultra-Bold"/>
                <a:cs typeface="Montaser Arabic Ultra-Bold"/>
                <a:sym typeface="Montaser Arabic Ultra-Bold"/>
              </a:rPr>
              <a:t>El Plan de Juego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688725"/>
            <a:ext cx="7077050" cy="41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7"/>
              </a:lnSpc>
            </a:pPr>
            <a:r>
              <a:rPr lang="en-US" sz="2613" b="true">
                <a:solidFill>
                  <a:srgbClr val="04E1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100 puntos Para Prepararse Desde Hoy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51603" y="3653810"/>
            <a:ext cx="3495675" cy="742186"/>
            <a:chOff x="0" y="0"/>
            <a:chExt cx="4660900" cy="98958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4660231" cy="989582"/>
              <a:chOff x="0" y="0"/>
              <a:chExt cx="2870785" cy="6096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2370" y="0"/>
                <a:ext cx="2846044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2846044">
                    <a:moveTo>
                      <a:pt x="235131" y="0"/>
                    </a:moveTo>
                    <a:lnTo>
                      <a:pt x="2814114" y="0"/>
                    </a:lnTo>
                    <a:cubicBezTo>
                      <a:pt x="2824378" y="0"/>
                      <a:pt x="2834016" y="4934"/>
                      <a:pt x="2840017" y="13260"/>
                    </a:cubicBezTo>
                    <a:cubicBezTo>
                      <a:pt x="2846018" y="21587"/>
                      <a:pt x="2847651" y="32290"/>
                      <a:pt x="2844406" y="42027"/>
                    </a:cubicBezTo>
                    <a:lnTo>
                      <a:pt x="2669224" y="567573"/>
                    </a:lnTo>
                    <a:cubicBezTo>
                      <a:pt x="2660858" y="592671"/>
                      <a:pt x="2637370" y="609600"/>
                      <a:pt x="2610914" y="609600"/>
                    </a:cubicBezTo>
                    <a:lnTo>
                      <a:pt x="31931" y="609600"/>
                    </a:lnTo>
                    <a:cubicBezTo>
                      <a:pt x="21667" y="609600"/>
                      <a:pt x="12029" y="604666"/>
                      <a:pt x="6028" y="596340"/>
                    </a:cubicBezTo>
                    <a:cubicBezTo>
                      <a:pt x="26" y="588013"/>
                      <a:pt x="-1607" y="577310"/>
                      <a:pt x="1639" y="567573"/>
                    </a:cubicBezTo>
                    <a:lnTo>
                      <a:pt x="176821" y="42027"/>
                    </a:lnTo>
                    <a:cubicBezTo>
                      <a:pt x="185187" y="16929"/>
                      <a:pt x="208675" y="0"/>
                      <a:pt x="235131" y="0"/>
                    </a:cubicBezTo>
                    <a:close/>
                  </a:path>
                </a:pathLst>
              </a:custGeom>
              <a:ln w="38100" cap="sq">
                <a:solidFill>
                  <a:srgbClr val="5AE0A7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01600" y="-47625"/>
                <a:ext cx="2667585" cy="657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36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0" y="219462"/>
              <a:ext cx="4660900" cy="503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Russo One"/>
                  <a:ea typeface="Russo One"/>
                  <a:cs typeface="Russo One"/>
                  <a:sym typeface="Russo One"/>
                </a:rPr>
                <a:t>1 Domina lo basico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74661" y="-2875072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8" y="0"/>
                </a:lnTo>
                <a:lnTo>
                  <a:pt x="5138678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96297" y="5538592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3"/>
                </a:lnTo>
                <a:lnTo>
                  <a:pt x="0" y="4419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32600" y="8721930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068379" y="5254784"/>
            <a:ext cx="6594514" cy="3125939"/>
            <a:chOff x="0" y="0"/>
            <a:chExt cx="1021663" cy="4842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1663" cy="484290"/>
            </a:xfrm>
            <a:custGeom>
              <a:avLst/>
              <a:gdLst/>
              <a:ahLst/>
              <a:cxnLst/>
              <a:rect r="r" b="b" t="t" l="l"/>
              <a:pathLst>
                <a:path h="484290" w="1021663">
                  <a:moveTo>
                    <a:pt x="65744" y="0"/>
                  </a:moveTo>
                  <a:lnTo>
                    <a:pt x="955919" y="0"/>
                  </a:lnTo>
                  <a:cubicBezTo>
                    <a:pt x="992228" y="0"/>
                    <a:pt x="1021663" y="29434"/>
                    <a:pt x="1021663" y="65744"/>
                  </a:cubicBezTo>
                  <a:lnTo>
                    <a:pt x="1021663" y="418546"/>
                  </a:lnTo>
                  <a:cubicBezTo>
                    <a:pt x="1021663" y="454855"/>
                    <a:pt x="992228" y="484290"/>
                    <a:pt x="955919" y="484290"/>
                  </a:cubicBezTo>
                  <a:lnTo>
                    <a:pt x="65744" y="484290"/>
                  </a:lnTo>
                  <a:cubicBezTo>
                    <a:pt x="29434" y="484290"/>
                    <a:pt x="0" y="454855"/>
                    <a:pt x="0" y="418546"/>
                  </a:cubicBezTo>
                  <a:lnTo>
                    <a:pt x="0" y="65744"/>
                  </a:lnTo>
                  <a:cubicBezTo>
                    <a:pt x="0" y="29434"/>
                    <a:pt x="29434" y="0"/>
                    <a:pt x="6574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1463" r="0" b="-2146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068379" y="1906277"/>
            <a:ext cx="6594514" cy="3125939"/>
            <a:chOff x="0" y="0"/>
            <a:chExt cx="1021663" cy="484290"/>
          </a:xfrm>
        </p:grpSpPr>
        <p:sp>
          <p:nvSpPr>
            <p:cNvPr name="Freeform 8" id="8"/>
            <p:cNvSpPr/>
            <p:nvPr/>
          </p:nvSpPr>
          <p:spPr>
            <a:xfrm flipH="true" flipV="false" rot="0">
              <a:off x="0" y="0"/>
              <a:ext cx="1021663" cy="484290"/>
            </a:xfrm>
            <a:custGeom>
              <a:avLst/>
              <a:gdLst/>
              <a:ahLst/>
              <a:cxnLst/>
              <a:rect r="r" b="b" t="t" l="l"/>
              <a:pathLst>
                <a:path h="484290" w="1021663">
                  <a:moveTo>
                    <a:pt x="955919" y="0"/>
                  </a:moveTo>
                  <a:lnTo>
                    <a:pt x="65744" y="0"/>
                  </a:lnTo>
                  <a:cubicBezTo>
                    <a:pt x="29434" y="0"/>
                    <a:pt x="0" y="29434"/>
                    <a:pt x="0" y="65744"/>
                  </a:cubicBezTo>
                  <a:lnTo>
                    <a:pt x="0" y="418546"/>
                  </a:lnTo>
                  <a:cubicBezTo>
                    <a:pt x="0" y="454855"/>
                    <a:pt x="29434" y="484290"/>
                    <a:pt x="65744" y="484290"/>
                  </a:cubicBezTo>
                  <a:lnTo>
                    <a:pt x="955919" y="484290"/>
                  </a:lnTo>
                  <a:cubicBezTo>
                    <a:pt x="992228" y="484290"/>
                    <a:pt x="1021663" y="454855"/>
                    <a:pt x="1021663" y="418546"/>
                  </a:cubicBezTo>
                  <a:lnTo>
                    <a:pt x="1021663" y="65744"/>
                  </a:lnTo>
                  <a:cubicBezTo>
                    <a:pt x="1021663" y="29434"/>
                    <a:pt x="992228" y="0"/>
                    <a:pt x="955919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9221" r="0" b="-1922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1820552"/>
            <a:ext cx="7187919" cy="83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  <a:spcBef>
                <a:spcPct val="0"/>
              </a:spcBef>
            </a:pPr>
            <a:r>
              <a:rPr lang="en-US" sz="4903" b="true">
                <a:solidFill>
                  <a:srgbClr val="FFFFFF"/>
                </a:solidFill>
                <a:latin typeface="Montaser Arabic Ultra-Bold"/>
                <a:ea typeface="Montaser Arabic Ultra-Bold"/>
                <a:cs typeface="Montaser Arabic Ultra-Bold"/>
                <a:sym typeface="Montaser Arabic Ultra-Bold"/>
              </a:rPr>
              <a:t>El Plan de Juego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688725"/>
            <a:ext cx="7077050" cy="41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7"/>
              </a:lnSpc>
            </a:pPr>
            <a:r>
              <a:rPr lang="en-US" sz="2613" b="true">
                <a:solidFill>
                  <a:srgbClr val="04E1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100 puntos Para Prepararse Desde Hoy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51603" y="3653810"/>
            <a:ext cx="3495675" cy="742186"/>
            <a:chOff x="0" y="0"/>
            <a:chExt cx="4660900" cy="98958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4660231" cy="989582"/>
              <a:chOff x="0" y="0"/>
              <a:chExt cx="2870785" cy="6096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2370" y="0"/>
                <a:ext cx="2846044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2846044">
                    <a:moveTo>
                      <a:pt x="235131" y="0"/>
                    </a:moveTo>
                    <a:lnTo>
                      <a:pt x="2814114" y="0"/>
                    </a:lnTo>
                    <a:cubicBezTo>
                      <a:pt x="2824378" y="0"/>
                      <a:pt x="2834016" y="4934"/>
                      <a:pt x="2840017" y="13260"/>
                    </a:cubicBezTo>
                    <a:cubicBezTo>
                      <a:pt x="2846018" y="21587"/>
                      <a:pt x="2847651" y="32290"/>
                      <a:pt x="2844406" y="42027"/>
                    </a:cubicBezTo>
                    <a:lnTo>
                      <a:pt x="2669224" y="567573"/>
                    </a:lnTo>
                    <a:cubicBezTo>
                      <a:pt x="2660858" y="592671"/>
                      <a:pt x="2637370" y="609600"/>
                      <a:pt x="2610914" y="609600"/>
                    </a:cubicBezTo>
                    <a:lnTo>
                      <a:pt x="31931" y="609600"/>
                    </a:lnTo>
                    <a:cubicBezTo>
                      <a:pt x="21667" y="609600"/>
                      <a:pt x="12029" y="604666"/>
                      <a:pt x="6028" y="596340"/>
                    </a:cubicBezTo>
                    <a:cubicBezTo>
                      <a:pt x="26" y="588013"/>
                      <a:pt x="-1607" y="577310"/>
                      <a:pt x="1639" y="567573"/>
                    </a:cubicBezTo>
                    <a:lnTo>
                      <a:pt x="176821" y="42027"/>
                    </a:lnTo>
                    <a:cubicBezTo>
                      <a:pt x="185187" y="16929"/>
                      <a:pt x="208675" y="0"/>
                      <a:pt x="235131" y="0"/>
                    </a:cubicBezTo>
                    <a:close/>
                  </a:path>
                </a:pathLst>
              </a:custGeom>
              <a:ln w="38100" cap="sq">
                <a:solidFill>
                  <a:srgbClr val="5AE0A7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01600" y="-47625"/>
                <a:ext cx="2667585" cy="657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36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0" y="219462"/>
              <a:ext cx="4660900" cy="503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Russo One"/>
                  <a:ea typeface="Russo One"/>
                  <a:cs typeface="Russo One"/>
                  <a:sym typeface="Russo One"/>
                </a:rPr>
                <a:t>1 Domina lo basico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030684" y="5032216"/>
            <a:ext cx="4824228" cy="742186"/>
            <a:chOff x="0" y="0"/>
            <a:chExt cx="6432304" cy="98958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431381" cy="989582"/>
              <a:chOff x="0" y="0"/>
              <a:chExt cx="3961844" cy="6096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8964" y="0"/>
                <a:ext cx="39439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3943917">
                    <a:moveTo>
                      <a:pt x="226337" y="0"/>
                    </a:moveTo>
                    <a:lnTo>
                      <a:pt x="3920779" y="0"/>
                    </a:lnTo>
                    <a:cubicBezTo>
                      <a:pt x="3928217" y="0"/>
                      <a:pt x="3935201" y="3575"/>
                      <a:pt x="3939549" y="9608"/>
                    </a:cubicBezTo>
                    <a:cubicBezTo>
                      <a:pt x="3943898" y="15642"/>
                      <a:pt x="3945081" y="23398"/>
                      <a:pt x="3942729" y="30453"/>
                    </a:cubicBezTo>
                    <a:lnTo>
                      <a:pt x="3759831" y="579147"/>
                    </a:lnTo>
                    <a:cubicBezTo>
                      <a:pt x="3753769" y="597333"/>
                      <a:pt x="3736750" y="609600"/>
                      <a:pt x="3717579" y="609600"/>
                    </a:cubicBezTo>
                    <a:lnTo>
                      <a:pt x="23137" y="609600"/>
                    </a:lnTo>
                    <a:cubicBezTo>
                      <a:pt x="15699" y="609600"/>
                      <a:pt x="8716" y="606025"/>
                      <a:pt x="4367" y="599992"/>
                    </a:cubicBezTo>
                    <a:cubicBezTo>
                      <a:pt x="18" y="593958"/>
                      <a:pt x="-1165" y="586202"/>
                      <a:pt x="1187" y="579147"/>
                    </a:cubicBezTo>
                    <a:lnTo>
                      <a:pt x="184085" y="30453"/>
                    </a:lnTo>
                    <a:cubicBezTo>
                      <a:pt x="190147" y="12267"/>
                      <a:pt x="207166" y="0"/>
                      <a:pt x="226337" y="0"/>
                    </a:cubicBezTo>
                    <a:close/>
                  </a:path>
                </a:pathLst>
              </a:custGeom>
              <a:ln w="38100" cap="sq">
                <a:solidFill>
                  <a:srgbClr val="5AE0A7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101600" y="-47625"/>
                <a:ext cx="3758644" cy="657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36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0" y="219462"/>
              <a:ext cx="6432304" cy="503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Russo One"/>
                  <a:ea typeface="Russo One"/>
                  <a:cs typeface="Russo One"/>
                  <a:sym typeface="Russo One"/>
                </a:rPr>
                <a:t>10 Programa con proposito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74661" y="-2875072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8" y="0"/>
                </a:lnTo>
                <a:lnTo>
                  <a:pt x="5138678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96297" y="5538592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3"/>
                </a:lnTo>
                <a:lnTo>
                  <a:pt x="0" y="4419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32600" y="8721930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068379" y="5254784"/>
            <a:ext cx="6594514" cy="3125939"/>
            <a:chOff x="0" y="0"/>
            <a:chExt cx="1021663" cy="4842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1663" cy="484290"/>
            </a:xfrm>
            <a:custGeom>
              <a:avLst/>
              <a:gdLst/>
              <a:ahLst/>
              <a:cxnLst/>
              <a:rect r="r" b="b" t="t" l="l"/>
              <a:pathLst>
                <a:path h="484290" w="1021663">
                  <a:moveTo>
                    <a:pt x="65744" y="0"/>
                  </a:moveTo>
                  <a:lnTo>
                    <a:pt x="955919" y="0"/>
                  </a:lnTo>
                  <a:cubicBezTo>
                    <a:pt x="992228" y="0"/>
                    <a:pt x="1021663" y="29434"/>
                    <a:pt x="1021663" y="65744"/>
                  </a:cubicBezTo>
                  <a:lnTo>
                    <a:pt x="1021663" y="418546"/>
                  </a:lnTo>
                  <a:cubicBezTo>
                    <a:pt x="1021663" y="454855"/>
                    <a:pt x="992228" y="484290"/>
                    <a:pt x="955919" y="484290"/>
                  </a:cubicBezTo>
                  <a:lnTo>
                    <a:pt x="65744" y="484290"/>
                  </a:lnTo>
                  <a:cubicBezTo>
                    <a:pt x="29434" y="484290"/>
                    <a:pt x="0" y="454855"/>
                    <a:pt x="0" y="418546"/>
                  </a:cubicBezTo>
                  <a:lnTo>
                    <a:pt x="0" y="65744"/>
                  </a:lnTo>
                  <a:cubicBezTo>
                    <a:pt x="0" y="29434"/>
                    <a:pt x="29434" y="0"/>
                    <a:pt x="6574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1463" r="0" b="-2146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068379" y="1906277"/>
            <a:ext cx="6594514" cy="3125939"/>
            <a:chOff x="0" y="0"/>
            <a:chExt cx="1021663" cy="484290"/>
          </a:xfrm>
        </p:grpSpPr>
        <p:sp>
          <p:nvSpPr>
            <p:cNvPr name="Freeform 8" id="8"/>
            <p:cNvSpPr/>
            <p:nvPr/>
          </p:nvSpPr>
          <p:spPr>
            <a:xfrm flipH="true" flipV="false" rot="0">
              <a:off x="0" y="0"/>
              <a:ext cx="1021663" cy="484290"/>
            </a:xfrm>
            <a:custGeom>
              <a:avLst/>
              <a:gdLst/>
              <a:ahLst/>
              <a:cxnLst/>
              <a:rect r="r" b="b" t="t" l="l"/>
              <a:pathLst>
                <a:path h="484290" w="1021663">
                  <a:moveTo>
                    <a:pt x="955919" y="0"/>
                  </a:moveTo>
                  <a:lnTo>
                    <a:pt x="65744" y="0"/>
                  </a:lnTo>
                  <a:cubicBezTo>
                    <a:pt x="29434" y="0"/>
                    <a:pt x="0" y="29434"/>
                    <a:pt x="0" y="65744"/>
                  </a:cubicBezTo>
                  <a:lnTo>
                    <a:pt x="0" y="418546"/>
                  </a:lnTo>
                  <a:cubicBezTo>
                    <a:pt x="0" y="454855"/>
                    <a:pt x="29434" y="484290"/>
                    <a:pt x="65744" y="484290"/>
                  </a:cubicBezTo>
                  <a:lnTo>
                    <a:pt x="955919" y="484290"/>
                  </a:lnTo>
                  <a:cubicBezTo>
                    <a:pt x="992228" y="484290"/>
                    <a:pt x="1021663" y="454855"/>
                    <a:pt x="1021663" y="418546"/>
                  </a:cubicBezTo>
                  <a:lnTo>
                    <a:pt x="1021663" y="65744"/>
                  </a:lnTo>
                  <a:cubicBezTo>
                    <a:pt x="1021663" y="29434"/>
                    <a:pt x="992228" y="0"/>
                    <a:pt x="955919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9221" r="0" b="-1922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1820552"/>
            <a:ext cx="7187919" cy="83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  <a:spcBef>
                <a:spcPct val="0"/>
              </a:spcBef>
            </a:pPr>
            <a:r>
              <a:rPr lang="en-US" sz="4903" b="true">
                <a:solidFill>
                  <a:srgbClr val="FFFFFF"/>
                </a:solidFill>
                <a:latin typeface="Montaser Arabic Ultra-Bold"/>
                <a:ea typeface="Montaser Arabic Ultra-Bold"/>
                <a:cs typeface="Montaser Arabic Ultra-Bold"/>
                <a:sym typeface="Montaser Arabic Ultra-Bold"/>
              </a:rPr>
              <a:t>El Plan de Juego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688725"/>
            <a:ext cx="7077050" cy="41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7"/>
              </a:lnSpc>
            </a:pPr>
            <a:r>
              <a:rPr lang="en-US" sz="2613" b="true">
                <a:solidFill>
                  <a:srgbClr val="04E1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100 puntos Para Prepararse Desde Hoy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51603" y="3653810"/>
            <a:ext cx="3495675" cy="742186"/>
            <a:chOff x="0" y="0"/>
            <a:chExt cx="4660900" cy="98958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4660231" cy="989582"/>
              <a:chOff x="0" y="0"/>
              <a:chExt cx="2870785" cy="6096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2370" y="0"/>
                <a:ext cx="2846044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2846044">
                    <a:moveTo>
                      <a:pt x="235131" y="0"/>
                    </a:moveTo>
                    <a:lnTo>
                      <a:pt x="2814114" y="0"/>
                    </a:lnTo>
                    <a:cubicBezTo>
                      <a:pt x="2824378" y="0"/>
                      <a:pt x="2834016" y="4934"/>
                      <a:pt x="2840017" y="13260"/>
                    </a:cubicBezTo>
                    <a:cubicBezTo>
                      <a:pt x="2846018" y="21587"/>
                      <a:pt x="2847651" y="32290"/>
                      <a:pt x="2844406" y="42027"/>
                    </a:cubicBezTo>
                    <a:lnTo>
                      <a:pt x="2669224" y="567573"/>
                    </a:lnTo>
                    <a:cubicBezTo>
                      <a:pt x="2660858" y="592671"/>
                      <a:pt x="2637370" y="609600"/>
                      <a:pt x="2610914" y="609600"/>
                    </a:cubicBezTo>
                    <a:lnTo>
                      <a:pt x="31931" y="609600"/>
                    </a:lnTo>
                    <a:cubicBezTo>
                      <a:pt x="21667" y="609600"/>
                      <a:pt x="12029" y="604666"/>
                      <a:pt x="6028" y="596340"/>
                    </a:cubicBezTo>
                    <a:cubicBezTo>
                      <a:pt x="26" y="588013"/>
                      <a:pt x="-1607" y="577310"/>
                      <a:pt x="1639" y="567573"/>
                    </a:cubicBezTo>
                    <a:lnTo>
                      <a:pt x="176821" y="42027"/>
                    </a:lnTo>
                    <a:cubicBezTo>
                      <a:pt x="185187" y="16929"/>
                      <a:pt x="208675" y="0"/>
                      <a:pt x="235131" y="0"/>
                    </a:cubicBezTo>
                    <a:close/>
                  </a:path>
                </a:pathLst>
              </a:custGeom>
              <a:ln w="38100" cap="sq">
                <a:solidFill>
                  <a:srgbClr val="5AE0A7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01600" y="-47625"/>
                <a:ext cx="2667585" cy="657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36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0" y="219462"/>
              <a:ext cx="4660900" cy="503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Russo One"/>
                  <a:ea typeface="Russo One"/>
                  <a:cs typeface="Russo One"/>
                  <a:sym typeface="Russo One"/>
                </a:rPr>
                <a:t>1 Domina lo basico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030684" y="5032216"/>
            <a:ext cx="4824228" cy="742186"/>
            <a:chOff x="0" y="0"/>
            <a:chExt cx="6432304" cy="98958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431381" cy="989582"/>
              <a:chOff x="0" y="0"/>
              <a:chExt cx="3961844" cy="6096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8964" y="0"/>
                <a:ext cx="39439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3943917">
                    <a:moveTo>
                      <a:pt x="226337" y="0"/>
                    </a:moveTo>
                    <a:lnTo>
                      <a:pt x="3920779" y="0"/>
                    </a:lnTo>
                    <a:cubicBezTo>
                      <a:pt x="3928217" y="0"/>
                      <a:pt x="3935201" y="3575"/>
                      <a:pt x="3939549" y="9608"/>
                    </a:cubicBezTo>
                    <a:cubicBezTo>
                      <a:pt x="3943898" y="15642"/>
                      <a:pt x="3945081" y="23398"/>
                      <a:pt x="3942729" y="30453"/>
                    </a:cubicBezTo>
                    <a:lnTo>
                      <a:pt x="3759831" y="579147"/>
                    </a:lnTo>
                    <a:cubicBezTo>
                      <a:pt x="3753769" y="597333"/>
                      <a:pt x="3736750" y="609600"/>
                      <a:pt x="3717579" y="609600"/>
                    </a:cubicBezTo>
                    <a:lnTo>
                      <a:pt x="23137" y="609600"/>
                    </a:lnTo>
                    <a:cubicBezTo>
                      <a:pt x="15699" y="609600"/>
                      <a:pt x="8716" y="606025"/>
                      <a:pt x="4367" y="599992"/>
                    </a:cubicBezTo>
                    <a:cubicBezTo>
                      <a:pt x="18" y="593958"/>
                      <a:pt x="-1165" y="586202"/>
                      <a:pt x="1187" y="579147"/>
                    </a:cubicBezTo>
                    <a:lnTo>
                      <a:pt x="184085" y="30453"/>
                    </a:lnTo>
                    <a:cubicBezTo>
                      <a:pt x="190147" y="12267"/>
                      <a:pt x="207166" y="0"/>
                      <a:pt x="226337" y="0"/>
                    </a:cubicBezTo>
                    <a:close/>
                  </a:path>
                </a:pathLst>
              </a:custGeom>
              <a:ln w="38100" cap="sq">
                <a:solidFill>
                  <a:srgbClr val="5AE0A7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101600" y="-47625"/>
                <a:ext cx="3758644" cy="657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36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0" y="219462"/>
              <a:ext cx="6432304" cy="503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Russo One"/>
                  <a:ea typeface="Russo One"/>
                  <a:cs typeface="Russo One"/>
                  <a:sym typeface="Russo One"/>
                </a:rPr>
                <a:t>10 Programa con proposito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299440" y="6272431"/>
            <a:ext cx="4651019" cy="1090646"/>
            <a:chOff x="0" y="0"/>
            <a:chExt cx="6201358" cy="1454195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201358" cy="1454195"/>
              <a:chOff x="0" y="0"/>
              <a:chExt cx="3820146" cy="89581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6706" y="0"/>
                <a:ext cx="3806735" cy="895810"/>
              </a:xfrm>
              <a:custGeom>
                <a:avLst/>
                <a:gdLst/>
                <a:ahLst/>
                <a:cxnLst/>
                <a:rect r="r" b="b" t="t" l="l"/>
                <a:pathLst>
                  <a:path h="895810" w="3806735">
                    <a:moveTo>
                      <a:pt x="229785" y="0"/>
                    </a:moveTo>
                    <a:lnTo>
                      <a:pt x="3780149" y="0"/>
                    </a:lnTo>
                    <a:cubicBezTo>
                      <a:pt x="3788233" y="0"/>
                      <a:pt x="3795879" y="3679"/>
                      <a:pt x="3800923" y="9996"/>
                    </a:cubicBezTo>
                    <a:cubicBezTo>
                      <a:pt x="3805968" y="16313"/>
                      <a:pt x="3807864" y="24582"/>
                      <a:pt x="3806076" y="32467"/>
                    </a:cubicBezTo>
                    <a:lnTo>
                      <a:pt x="3617605" y="863343"/>
                    </a:lnTo>
                    <a:cubicBezTo>
                      <a:pt x="3613297" y="882332"/>
                      <a:pt x="3596420" y="895810"/>
                      <a:pt x="3576949" y="895810"/>
                    </a:cubicBezTo>
                    <a:lnTo>
                      <a:pt x="26585" y="895810"/>
                    </a:lnTo>
                    <a:cubicBezTo>
                      <a:pt x="18501" y="895810"/>
                      <a:pt x="10856" y="892131"/>
                      <a:pt x="5811" y="885814"/>
                    </a:cubicBezTo>
                    <a:cubicBezTo>
                      <a:pt x="766" y="879497"/>
                      <a:pt x="-1130" y="871227"/>
                      <a:pt x="659" y="863343"/>
                    </a:cubicBezTo>
                    <a:lnTo>
                      <a:pt x="189130" y="32467"/>
                    </a:lnTo>
                    <a:cubicBezTo>
                      <a:pt x="193437" y="13478"/>
                      <a:pt x="210314" y="0"/>
                      <a:pt x="229785" y="0"/>
                    </a:cubicBezTo>
                    <a:close/>
                  </a:path>
                </a:pathLst>
              </a:custGeom>
              <a:ln w="38100" cap="sq">
                <a:solidFill>
                  <a:srgbClr val="5AE0A7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47625"/>
                <a:ext cx="3616946" cy="9434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36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14130" y="206375"/>
              <a:ext cx="5164926" cy="10365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Russo One"/>
                  <a:ea typeface="Russo One"/>
                  <a:cs typeface="Russo One"/>
                  <a:sym typeface="Russo One"/>
                </a:rPr>
                <a:t>11 Aprendan a Contar Historias con Datos: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74661" y="-2875072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8" y="0"/>
                </a:lnTo>
                <a:lnTo>
                  <a:pt x="5138678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96297" y="5538592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3"/>
                </a:lnTo>
                <a:lnTo>
                  <a:pt x="0" y="4419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32600" y="8721930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068379" y="5254784"/>
            <a:ext cx="6594514" cy="3125939"/>
            <a:chOff x="0" y="0"/>
            <a:chExt cx="1021663" cy="4842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1663" cy="484290"/>
            </a:xfrm>
            <a:custGeom>
              <a:avLst/>
              <a:gdLst/>
              <a:ahLst/>
              <a:cxnLst/>
              <a:rect r="r" b="b" t="t" l="l"/>
              <a:pathLst>
                <a:path h="484290" w="1021663">
                  <a:moveTo>
                    <a:pt x="65744" y="0"/>
                  </a:moveTo>
                  <a:lnTo>
                    <a:pt x="955919" y="0"/>
                  </a:lnTo>
                  <a:cubicBezTo>
                    <a:pt x="992228" y="0"/>
                    <a:pt x="1021663" y="29434"/>
                    <a:pt x="1021663" y="65744"/>
                  </a:cubicBezTo>
                  <a:lnTo>
                    <a:pt x="1021663" y="418546"/>
                  </a:lnTo>
                  <a:cubicBezTo>
                    <a:pt x="1021663" y="454855"/>
                    <a:pt x="992228" y="484290"/>
                    <a:pt x="955919" y="484290"/>
                  </a:cubicBezTo>
                  <a:lnTo>
                    <a:pt x="65744" y="484290"/>
                  </a:lnTo>
                  <a:cubicBezTo>
                    <a:pt x="29434" y="484290"/>
                    <a:pt x="0" y="454855"/>
                    <a:pt x="0" y="418546"/>
                  </a:cubicBezTo>
                  <a:lnTo>
                    <a:pt x="0" y="65744"/>
                  </a:lnTo>
                  <a:cubicBezTo>
                    <a:pt x="0" y="29434"/>
                    <a:pt x="29434" y="0"/>
                    <a:pt x="6574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1463" r="0" b="-2146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068379" y="1906277"/>
            <a:ext cx="6594514" cy="3125939"/>
            <a:chOff x="0" y="0"/>
            <a:chExt cx="1021663" cy="484290"/>
          </a:xfrm>
        </p:grpSpPr>
        <p:sp>
          <p:nvSpPr>
            <p:cNvPr name="Freeform 8" id="8"/>
            <p:cNvSpPr/>
            <p:nvPr/>
          </p:nvSpPr>
          <p:spPr>
            <a:xfrm flipH="true" flipV="false" rot="0">
              <a:off x="0" y="0"/>
              <a:ext cx="1021663" cy="484290"/>
            </a:xfrm>
            <a:custGeom>
              <a:avLst/>
              <a:gdLst/>
              <a:ahLst/>
              <a:cxnLst/>
              <a:rect r="r" b="b" t="t" l="l"/>
              <a:pathLst>
                <a:path h="484290" w="1021663">
                  <a:moveTo>
                    <a:pt x="955919" y="0"/>
                  </a:moveTo>
                  <a:lnTo>
                    <a:pt x="65744" y="0"/>
                  </a:lnTo>
                  <a:cubicBezTo>
                    <a:pt x="29434" y="0"/>
                    <a:pt x="0" y="29434"/>
                    <a:pt x="0" y="65744"/>
                  </a:cubicBezTo>
                  <a:lnTo>
                    <a:pt x="0" y="418546"/>
                  </a:lnTo>
                  <a:cubicBezTo>
                    <a:pt x="0" y="454855"/>
                    <a:pt x="29434" y="484290"/>
                    <a:pt x="65744" y="484290"/>
                  </a:cubicBezTo>
                  <a:lnTo>
                    <a:pt x="955919" y="484290"/>
                  </a:lnTo>
                  <a:cubicBezTo>
                    <a:pt x="992228" y="484290"/>
                    <a:pt x="1021663" y="454855"/>
                    <a:pt x="1021663" y="418546"/>
                  </a:cubicBezTo>
                  <a:lnTo>
                    <a:pt x="1021663" y="65744"/>
                  </a:lnTo>
                  <a:cubicBezTo>
                    <a:pt x="1021663" y="29434"/>
                    <a:pt x="992228" y="0"/>
                    <a:pt x="955919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9221" r="0" b="-1922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1820552"/>
            <a:ext cx="7187919" cy="83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  <a:spcBef>
                <a:spcPct val="0"/>
              </a:spcBef>
            </a:pPr>
            <a:r>
              <a:rPr lang="en-US" sz="4903" b="true">
                <a:solidFill>
                  <a:srgbClr val="FFFFFF"/>
                </a:solidFill>
                <a:latin typeface="Montaser Arabic Ultra-Bold"/>
                <a:ea typeface="Montaser Arabic Ultra-Bold"/>
                <a:cs typeface="Montaser Arabic Ultra-Bold"/>
                <a:sym typeface="Montaser Arabic Ultra-Bold"/>
              </a:rPr>
              <a:t>El Plan de Juego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688725"/>
            <a:ext cx="7077050" cy="41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7"/>
              </a:lnSpc>
            </a:pPr>
            <a:r>
              <a:rPr lang="en-US" sz="2613" b="true">
                <a:solidFill>
                  <a:srgbClr val="04E1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100 puntos Para Prepararse Desde Hoy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51603" y="3653810"/>
            <a:ext cx="3495675" cy="742186"/>
            <a:chOff x="0" y="0"/>
            <a:chExt cx="4660900" cy="98958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4660231" cy="989582"/>
              <a:chOff x="0" y="0"/>
              <a:chExt cx="2870785" cy="6096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2370" y="0"/>
                <a:ext cx="2846044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2846044">
                    <a:moveTo>
                      <a:pt x="235131" y="0"/>
                    </a:moveTo>
                    <a:lnTo>
                      <a:pt x="2814114" y="0"/>
                    </a:lnTo>
                    <a:cubicBezTo>
                      <a:pt x="2824378" y="0"/>
                      <a:pt x="2834016" y="4934"/>
                      <a:pt x="2840017" y="13260"/>
                    </a:cubicBezTo>
                    <a:cubicBezTo>
                      <a:pt x="2846018" y="21587"/>
                      <a:pt x="2847651" y="32290"/>
                      <a:pt x="2844406" y="42027"/>
                    </a:cubicBezTo>
                    <a:lnTo>
                      <a:pt x="2669224" y="567573"/>
                    </a:lnTo>
                    <a:cubicBezTo>
                      <a:pt x="2660858" y="592671"/>
                      <a:pt x="2637370" y="609600"/>
                      <a:pt x="2610914" y="609600"/>
                    </a:cubicBezTo>
                    <a:lnTo>
                      <a:pt x="31931" y="609600"/>
                    </a:lnTo>
                    <a:cubicBezTo>
                      <a:pt x="21667" y="609600"/>
                      <a:pt x="12029" y="604666"/>
                      <a:pt x="6028" y="596340"/>
                    </a:cubicBezTo>
                    <a:cubicBezTo>
                      <a:pt x="26" y="588013"/>
                      <a:pt x="-1607" y="577310"/>
                      <a:pt x="1639" y="567573"/>
                    </a:cubicBezTo>
                    <a:lnTo>
                      <a:pt x="176821" y="42027"/>
                    </a:lnTo>
                    <a:cubicBezTo>
                      <a:pt x="185187" y="16929"/>
                      <a:pt x="208675" y="0"/>
                      <a:pt x="235131" y="0"/>
                    </a:cubicBezTo>
                    <a:close/>
                  </a:path>
                </a:pathLst>
              </a:custGeom>
              <a:ln w="38100" cap="sq">
                <a:solidFill>
                  <a:srgbClr val="5AE0A7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01600" y="-47625"/>
                <a:ext cx="2667585" cy="657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36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0" y="219462"/>
              <a:ext cx="4660900" cy="503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Russo One"/>
                  <a:ea typeface="Russo One"/>
                  <a:cs typeface="Russo One"/>
                  <a:sym typeface="Russo One"/>
                </a:rPr>
                <a:t>1 Domina lo basico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030684" y="5032216"/>
            <a:ext cx="4824228" cy="742186"/>
            <a:chOff x="0" y="0"/>
            <a:chExt cx="6432304" cy="98958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431381" cy="989582"/>
              <a:chOff x="0" y="0"/>
              <a:chExt cx="3961844" cy="6096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8964" y="0"/>
                <a:ext cx="39439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3943917">
                    <a:moveTo>
                      <a:pt x="226337" y="0"/>
                    </a:moveTo>
                    <a:lnTo>
                      <a:pt x="3920779" y="0"/>
                    </a:lnTo>
                    <a:cubicBezTo>
                      <a:pt x="3928217" y="0"/>
                      <a:pt x="3935201" y="3575"/>
                      <a:pt x="3939549" y="9608"/>
                    </a:cubicBezTo>
                    <a:cubicBezTo>
                      <a:pt x="3943898" y="15642"/>
                      <a:pt x="3945081" y="23398"/>
                      <a:pt x="3942729" y="30453"/>
                    </a:cubicBezTo>
                    <a:lnTo>
                      <a:pt x="3759831" y="579147"/>
                    </a:lnTo>
                    <a:cubicBezTo>
                      <a:pt x="3753769" y="597333"/>
                      <a:pt x="3736750" y="609600"/>
                      <a:pt x="3717579" y="609600"/>
                    </a:cubicBezTo>
                    <a:lnTo>
                      <a:pt x="23137" y="609600"/>
                    </a:lnTo>
                    <a:cubicBezTo>
                      <a:pt x="15699" y="609600"/>
                      <a:pt x="8716" y="606025"/>
                      <a:pt x="4367" y="599992"/>
                    </a:cubicBezTo>
                    <a:cubicBezTo>
                      <a:pt x="18" y="593958"/>
                      <a:pt x="-1165" y="586202"/>
                      <a:pt x="1187" y="579147"/>
                    </a:cubicBezTo>
                    <a:lnTo>
                      <a:pt x="184085" y="30453"/>
                    </a:lnTo>
                    <a:cubicBezTo>
                      <a:pt x="190147" y="12267"/>
                      <a:pt x="207166" y="0"/>
                      <a:pt x="226337" y="0"/>
                    </a:cubicBezTo>
                    <a:close/>
                  </a:path>
                </a:pathLst>
              </a:custGeom>
              <a:ln w="38100" cap="sq">
                <a:solidFill>
                  <a:srgbClr val="5AE0A7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101600" y="-47625"/>
                <a:ext cx="3758644" cy="657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36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0" y="219462"/>
              <a:ext cx="6432304" cy="503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Russo One"/>
                  <a:ea typeface="Russo One"/>
                  <a:cs typeface="Russo One"/>
                  <a:sym typeface="Russo One"/>
                </a:rPr>
                <a:t>10 Programa con proposito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299440" y="6272431"/>
            <a:ext cx="4651019" cy="1090646"/>
            <a:chOff x="0" y="0"/>
            <a:chExt cx="6201358" cy="1454195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201358" cy="1454195"/>
              <a:chOff x="0" y="0"/>
              <a:chExt cx="3820146" cy="89581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6706" y="0"/>
                <a:ext cx="3806735" cy="895810"/>
              </a:xfrm>
              <a:custGeom>
                <a:avLst/>
                <a:gdLst/>
                <a:ahLst/>
                <a:cxnLst/>
                <a:rect r="r" b="b" t="t" l="l"/>
                <a:pathLst>
                  <a:path h="895810" w="3806735">
                    <a:moveTo>
                      <a:pt x="229785" y="0"/>
                    </a:moveTo>
                    <a:lnTo>
                      <a:pt x="3780149" y="0"/>
                    </a:lnTo>
                    <a:cubicBezTo>
                      <a:pt x="3788233" y="0"/>
                      <a:pt x="3795879" y="3679"/>
                      <a:pt x="3800923" y="9996"/>
                    </a:cubicBezTo>
                    <a:cubicBezTo>
                      <a:pt x="3805968" y="16313"/>
                      <a:pt x="3807864" y="24582"/>
                      <a:pt x="3806076" y="32467"/>
                    </a:cubicBezTo>
                    <a:lnTo>
                      <a:pt x="3617605" y="863343"/>
                    </a:lnTo>
                    <a:cubicBezTo>
                      <a:pt x="3613297" y="882332"/>
                      <a:pt x="3596420" y="895810"/>
                      <a:pt x="3576949" y="895810"/>
                    </a:cubicBezTo>
                    <a:lnTo>
                      <a:pt x="26585" y="895810"/>
                    </a:lnTo>
                    <a:cubicBezTo>
                      <a:pt x="18501" y="895810"/>
                      <a:pt x="10856" y="892131"/>
                      <a:pt x="5811" y="885814"/>
                    </a:cubicBezTo>
                    <a:cubicBezTo>
                      <a:pt x="766" y="879497"/>
                      <a:pt x="-1130" y="871227"/>
                      <a:pt x="659" y="863343"/>
                    </a:cubicBezTo>
                    <a:lnTo>
                      <a:pt x="189130" y="32467"/>
                    </a:lnTo>
                    <a:cubicBezTo>
                      <a:pt x="193437" y="13478"/>
                      <a:pt x="210314" y="0"/>
                      <a:pt x="229785" y="0"/>
                    </a:cubicBezTo>
                    <a:close/>
                  </a:path>
                </a:pathLst>
              </a:custGeom>
              <a:ln w="38100" cap="sq">
                <a:solidFill>
                  <a:srgbClr val="5AE0A7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47625"/>
                <a:ext cx="3616946" cy="9434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36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14130" y="206375"/>
              <a:ext cx="5164926" cy="10365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Russo One"/>
                  <a:ea typeface="Russo One"/>
                  <a:cs typeface="Russo One"/>
                  <a:sym typeface="Russo One"/>
                </a:rPr>
                <a:t>11 Aprendan a Contar Historias con Datos: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022757" y="7979743"/>
            <a:ext cx="5395143" cy="806955"/>
            <a:chOff x="0" y="0"/>
            <a:chExt cx="7193524" cy="107594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7192491" cy="1075940"/>
              <a:chOff x="0" y="0"/>
              <a:chExt cx="4075079" cy="6096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8715" y="0"/>
                <a:ext cx="405765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057650">
                    <a:moveTo>
                      <a:pt x="225694" y="0"/>
                    </a:moveTo>
                    <a:lnTo>
                      <a:pt x="4035156" y="0"/>
                    </a:lnTo>
                    <a:cubicBezTo>
                      <a:pt x="4042386" y="0"/>
                      <a:pt x="4049176" y="3476"/>
                      <a:pt x="4053404" y="9341"/>
                    </a:cubicBezTo>
                    <a:cubicBezTo>
                      <a:pt x="4057631" y="15207"/>
                      <a:pt x="4058782" y="22748"/>
                      <a:pt x="4056495" y="29607"/>
                    </a:cubicBezTo>
                    <a:lnTo>
                      <a:pt x="3873033" y="579993"/>
                    </a:lnTo>
                    <a:cubicBezTo>
                      <a:pt x="3867140" y="597674"/>
                      <a:pt x="3850593" y="609600"/>
                      <a:pt x="3831956" y="609600"/>
                    </a:cubicBezTo>
                    <a:lnTo>
                      <a:pt x="22494" y="609600"/>
                    </a:lnTo>
                    <a:cubicBezTo>
                      <a:pt x="15263" y="609600"/>
                      <a:pt x="8473" y="606124"/>
                      <a:pt x="4246" y="600259"/>
                    </a:cubicBezTo>
                    <a:cubicBezTo>
                      <a:pt x="18" y="594393"/>
                      <a:pt x="-1132" y="586852"/>
                      <a:pt x="1154" y="579993"/>
                    </a:cubicBezTo>
                    <a:lnTo>
                      <a:pt x="184616" y="29607"/>
                    </a:lnTo>
                    <a:cubicBezTo>
                      <a:pt x="190510" y="11926"/>
                      <a:pt x="207056" y="0"/>
                      <a:pt x="225694" y="0"/>
                    </a:cubicBezTo>
                    <a:close/>
                  </a:path>
                </a:pathLst>
              </a:custGeom>
              <a:ln w="38100" cap="sq">
                <a:solidFill>
                  <a:srgbClr val="5AE0A7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01600" y="-47625"/>
                <a:ext cx="3871879" cy="657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36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0" y="242770"/>
              <a:ext cx="7193524" cy="5251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61"/>
                </a:lnSpc>
              </a:pPr>
              <a:r>
                <a:rPr lang="en-US" sz="2400">
                  <a:solidFill>
                    <a:srgbClr val="FFFFFF"/>
                  </a:solidFill>
                  <a:latin typeface="Russo One"/>
                  <a:ea typeface="Russo One"/>
                  <a:cs typeface="Russo One"/>
                  <a:sym typeface="Russo One"/>
                </a:rPr>
                <a:t>100 Mantengan la Curiosidad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400" t="-25884" r="-879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506033">
            <a:off x="14234868" y="4995907"/>
            <a:ext cx="8106264" cy="8524787"/>
          </a:xfrm>
          <a:custGeom>
            <a:avLst/>
            <a:gdLst/>
            <a:ahLst/>
            <a:cxnLst/>
            <a:rect r="r" b="b" t="t" l="l"/>
            <a:pathLst>
              <a:path h="8524787" w="8106264">
                <a:moveTo>
                  <a:pt x="0" y="0"/>
                </a:moveTo>
                <a:lnTo>
                  <a:pt x="8106264" y="0"/>
                </a:lnTo>
                <a:lnTo>
                  <a:pt x="8106264" y="8524786"/>
                </a:lnTo>
                <a:lnTo>
                  <a:pt x="0" y="85247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4462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04962" y="9702078"/>
            <a:ext cx="8851486" cy="34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397" indent="-210698" lvl="1">
              <a:lnSpc>
                <a:spcPts val="2732"/>
              </a:lnSpc>
              <a:buAutoNum type="arabicPeriod" startAt="1"/>
            </a:pPr>
            <a:r>
              <a:rPr lang="en-US" b="true" sz="1951">
                <a:solidFill>
                  <a:srgbClr val="509FC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http://drewconway.com/zia/2013/3/26/the-data-science-venn-diagram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150212"/>
            <a:ext cx="14259180" cy="10287000"/>
            <a:chOff x="0" y="0"/>
            <a:chExt cx="3755504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55504" cy="2709333"/>
            </a:xfrm>
            <a:custGeom>
              <a:avLst/>
              <a:gdLst/>
              <a:ahLst/>
              <a:cxnLst/>
              <a:rect r="r" b="b" t="t" l="l"/>
              <a:pathLst>
                <a:path h="2709333" w="3755504">
                  <a:moveTo>
                    <a:pt x="0" y="0"/>
                  </a:moveTo>
                  <a:lnTo>
                    <a:pt x="3755504" y="0"/>
                  </a:lnTo>
                  <a:lnTo>
                    <a:pt x="3755504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33333">
                  <a:srgbClr val="000000">
                    <a:alpha val="100000"/>
                  </a:srgbClr>
                </a:gs>
                <a:gs pos="66667">
                  <a:srgbClr val="000000">
                    <a:alpha val="82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755504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8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3913" y="652597"/>
            <a:ext cx="1609132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D9EAF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Conclusion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8691519">
            <a:off x="-1765326" y="5517837"/>
            <a:ext cx="8106264" cy="8524787"/>
          </a:xfrm>
          <a:custGeom>
            <a:avLst/>
            <a:gdLst/>
            <a:ahLst/>
            <a:cxnLst/>
            <a:rect r="r" b="b" t="t" l="l"/>
            <a:pathLst>
              <a:path h="8524787" w="8106264">
                <a:moveTo>
                  <a:pt x="0" y="0"/>
                </a:moveTo>
                <a:lnTo>
                  <a:pt x="8106263" y="0"/>
                </a:lnTo>
                <a:lnTo>
                  <a:pt x="8106263" y="8524786"/>
                </a:lnTo>
                <a:lnTo>
                  <a:pt x="0" y="85247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44624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387725"/>
            <a:ext cx="8658892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 esperen a graduarse. Empiecen a pensar como solucionadores de problemas hoy. Cada tarea, cada proyecto final, es un mini-simulador de lo que hacemos en la industria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2646" y="-1917301"/>
            <a:ext cx="4907702" cy="5506538"/>
          </a:xfrm>
          <a:custGeom>
            <a:avLst/>
            <a:gdLst/>
            <a:ahLst/>
            <a:cxnLst/>
            <a:rect r="r" b="b" t="t" l="l"/>
            <a:pathLst>
              <a:path h="5506538" w="4907702">
                <a:moveTo>
                  <a:pt x="0" y="0"/>
                </a:moveTo>
                <a:lnTo>
                  <a:pt x="4907702" y="0"/>
                </a:lnTo>
                <a:lnTo>
                  <a:pt x="4907702" y="5506538"/>
                </a:lnTo>
                <a:lnTo>
                  <a:pt x="0" y="5506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58049">
            <a:off x="10808321" y="7238932"/>
            <a:ext cx="7038888" cy="6106291"/>
          </a:xfrm>
          <a:custGeom>
            <a:avLst/>
            <a:gdLst/>
            <a:ahLst/>
            <a:cxnLst/>
            <a:rect r="r" b="b" t="t" l="l"/>
            <a:pathLst>
              <a:path h="6106291" w="7038888">
                <a:moveTo>
                  <a:pt x="0" y="0"/>
                </a:moveTo>
                <a:lnTo>
                  <a:pt x="7038888" y="0"/>
                </a:lnTo>
                <a:lnTo>
                  <a:pt x="7038888" y="6106290"/>
                </a:lnTo>
                <a:lnTo>
                  <a:pt x="0" y="61062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134526" y="58108"/>
            <a:ext cx="8155457" cy="7062258"/>
            <a:chOff x="0" y="0"/>
            <a:chExt cx="4282440" cy="370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4"/>
              <a:stretch>
                <a:fillRect l="-10982" t="0" r="-10982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182972" y="1864109"/>
            <a:ext cx="7187919" cy="83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  <a:spcBef>
                <a:spcPct val="0"/>
              </a:spcBef>
            </a:pPr>
            <a:r>
              <a:rPr lang="en-US" sz="4903" b="true">
                <a:solidFill>
                  <a:srgbClr val="FFFFFF"/>
                </a:solidFill>
                <a:latin typeface="Montaser Arabic Ultra-Bold"/>
                <a:ea typeface="Montaser Arabic Ultra-Bold"/>
                <a:cs typeface="Montaser Arabic Ultra-Bold"/>
                <a:sym typeface="Montaser Arabic Ultra-Bold"/>
              </a:rPr>
              <a:t>Ligas de interes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3322" y="3983316"/>
            <a:ext cx="11846590" cy="298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4233" indent="-282116" lvl="1">
              <a:lnSpc>
                <a:spcPts val="3397"/>
              </a:lnSpc>
              <a:buFont typeface="Arial"/>
              <a:buChar char="•"/>
            </a:pPr>
            <a:r>
              <a:rPr lang="en-US" b="true" sz="2613">
                <a:solidFill>
                  <a:srgbClr val="04E1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Knaflic, C. N. (2015). Storytelling with data: A data visualization guide for business professionals. John Wiley &amp; Sons.</a:t>
            </a:r>
          </a:p>
          <a:p>
            <a:pPr algn="l" marL="564233" indent="-282116" lvl="1">
              <a:lnSpc>
                <a:spcPts val="3397"/>
              </a:lnSpc>
              <a:buFont typeface="Arial"/>
              <a:buChar char="•"/>
            </a:pPr>
            <a:r>
              <a:rPr lang="en-US" b="true" sz="2613">
                <a:solidFill>
                  <a:srgbClr val="04E1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FlowCV. (s.f.). FlowCV. Recuperado 20 de octubre de 2025, de </a:t>
            </a:r>
            <a:r>
              <a:rPr lang="en-US" b="true" sz="2613" u="sng">
                <a:solidFill>
                  <a:srgbClr val="04E1F9"/>
                </a:solidFill>
                <a:latin typeface="Montserrat Bold"/>
                <a:ea typeface="Montserrat Bold"/>
                <a:cs typeface="Montserrat Bold"/>
                <a:sym typeface="Montserrat Bold"/>
                <a:hlinkClick r:id="rId5" tooltip="https://app.flowcv.com"/>
              </a:rPr>
              <a:t>https://app.flowcv.com/</a:t>
            </a:r>
          </a:p>
          <a:p>
            <a:pPr algn="l" marL="564233" indent="-282116" lvl="1">
              <a:lnSpc>
                <a:spcPts val="3397"/>
              </a:lnSpc>
              <a:buFont typeface="Arial"/>
              <a:buChar char="•"/>
            </a:pPr>
            <a:r>
              <a:rPr lang="en-US" b="true" sz="2613">
                <a:solidFill>
                  <a:srgbClr val="04E1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Resume Worded. (s.f.). Resume Worded. Recuperado 20 de octubre de 2025, de </a:t>
            </a:r>
            <a:r>
              <a:rPr lang="en-US" b="true" sz="2613" u="sng">
                <a:solidFill>
                  <a:srgbClr val="04E1F9"/>
                </a:solidFill>
                <a:latin typeface="Montserrat Bold"/>
                <a:ea typeface="Montserrat Bold"/>
                <a:cs typeface="Montserrat Bold"/>
                <a:sym typeface="Montserrat Bold"/>
                <a:hlinkClick r:id="rId6" tooltip="https://resumeworded.com"/>
              </a:rPr>
              <a:t>https://resumeworded.com/</a:t>
            </a:r>
          </a:p>
          <a:p>
            <a:pPr algn="l" marL="564233" indent="-282116" lvl="1">
              <a:lnSpc>
                <a:spcPts val="3397"/>
              </a:lnSpc>
              <a:buFont typeface="Arial"/>
              <a:buChar char="•"/>
            </a:pP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3949" y="-5270406"/>
            <a:ext cx="10696161" cy="10174724"/>
          </a:xfrm>
          <a:custGeom>
            <a:avLst/>
            <a:gdLst/>
            <a:ahLst/>
            <a:cxnLst/>
            <a:rect r="r" b="b" t="t" l="l"/>
            <a:pathLst>
              <a:path h="10174724" w="10696161">
                <a:moveTo>
                  <a:pt x="0" y="0"/>
                </a:moveTo>
                <a:lnTo>
                  <a:pt x="10696161" y="0"/>
                </a:lnTo>
                <a:lnTo>
                  <a:pt x="10696161" y="10174724"/>
                </a:lnTo>
                <a:lnTo>
                  <a:pt x="0" y="10174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794212"/>
            <a:ext cx="5447801" cy="1776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9"/>
              </a:lnSpc>
            </a:pPr>
            <a:r>
              <a:rPr lang="en-US" sz="10299" b="true">
                <a:solidFill>
                  <a:srgbClr val="D9EAF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¡Gracias!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163050"/>
            <a:ext cx="12143265" cy="748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0"/>
              </a:lnSpc>
            </a:pPr>
            <a:r>
              <a:rPr lang="en-US" sz="4300" b="true">
                <a:solidFill>
                  <a:srgbClr val="509FC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Contacto: lgiovanni.guerrero@gmail.com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DAG2RSuEjEU</dc:identifier>
  <dcterms:modified xsi:type="dcterms:W3CDTF">2011-08-01T06:04:30Z</dcterms:modified>
  <cp:revision>1</cp:revision>
  <dc:title>Finanzas: El campo de juego perfecto para un mac</dc:title>
</cp:coreProperties>
</file>